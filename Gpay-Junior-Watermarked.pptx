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8BBF29-974F-4B24-839C-48530951A133}" v="154" dt="2025-11-20T06:55:23.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microsoft.com/office/2015/10/relationships/revisionInfo" Target="revisionInfo.xml"/><Relationship Id="rId27"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 Murugesan (NQT2 C)" userId="d74f3f27-2b99-4c8b-afb8-1a21b5b33b86" providerId="ADAL" clId="{D78CD33C-DEC7-483C-81D3-45535E414843}"/>
    <pc:docChg chg="undo custSel addSld modSld">
      <pc:chgData name="Devi Murugesan (NQT2 C)" userId="d74f3f27-2b99-4c8b-afb8-1a21b5b33b86" providerId="ADAL" clId="{D78CD33C-DEC7-483C-81D3-45535E414843}" dt="2025-11-20T06:55:33.182" v="1149" actId="20577"/>
      <pc:docMkLst>
        <pc:docMk/>
      </pc:docMkLst>
      <pc:sldChg chg="addSp delSp modSp new mod">
        <pc:chgData name="Devi Murugesan (NQT2 C)" userId="d74f3f27-2b99-4c8b-afb8-1a21b5b33b86" providerId="ADAL" clId="{D78CD33C-DEC7-483C-81D3-45535E414843}" dt="2025-11-20T04:54:06.050" v="192" actId="1035"/>
        <pc:sldMkLst>
          <pc:docMk/>
          <pc:sldMk cId="1769272254" sldId="260"/>
        </pc:sldMkLst>
        <pc:spChg chg="mod">
          <ac:chgData name="Devi Murugesan (NQT2 C)" userId="d74f3f27-2b99-4c8b-afb8-1a21b5b33b86" providerId="ADAL" clId="{D78CD33C-DEC7-483C-81D3-45535E414843}" dt="2025-11-20T04:51:00.936" v="15" actId="122"/>
          <ac:spMkLst>
            <pc:docMk/>
            <pc:sldMk cId="1769272254" sldId="260"/>
            <ac:spMk id="2" creationId="{82369145-D513-BA17-E326-548D50017D21}"/>
          </ac:spMkLst>
        </pc:spChg>
        <pc:spChg chg="mod">
          <ac:chgData name="Devi Murugesan (NQT2 C)" userId="d74f3f27-2b99-4c8b-afb8-1a21b5b33b86" providerId="ADAL" clId="{D78CD33C-DEC7-483C-81D3-45535E414843}" dt="2025-11-20T04:53:43.625" v="167" actId="1036"/>
          <ac:spMkLst>
            <pc:docMk/>
            <pc:sldMk cId="1769272254" sldId="260"/>
            <ac:spMk id="3" creationId="{8F7609C2-A802-8407-FA51-AA7DD08D907F}"/>
          </ac:spMkLst>
        </pc:spChg>
        <pc:spChg chg="add mod">
          <ac:chgData name="Devi Murugesan (NQT2 C)" userId="d74f3f27-2b99-4c8b-afb8-1a21b5b33b86" providerId="ADAL" clId="{D78CD33C-DEC7-483C-81D3-45535E414843}" dt="2025-11-20T04:50:48.688" v="2"/>
          <ac:spMkLst>
            <pc:docMk/>
            <pc:sldMk cId="1769272254" sldId="260"/>
            <ac:spMk id="4" creationId="{8A3DFDB1-2BD2-CA16-9F55-C804467EBEA4}"/>
          </ac:spMkLst>
        </pc:spChg>
        <pc:graphicFrameChg chg="add mod">
          <ac:chgData name="Devi Murugesan (NQT2 C)" userId="d74f3f27-2b99-4c8b-afb8-1a21b5b33b86" providerId="ADAL" clId="{D78CD33C-DEC7-483C-81D3-45535E414843}" dt="2025-11-20T04:50:46.198" v="1"/>
          <ac:graphicFrameMkLst>
            <pc:docMk/>
            <pc:sldMk cId="1769272254" sldId="260"/>
            <ac:graphicFrameMk id="5" creationId="{D18A89EF-B6F6-9C49-F978-ED81488753A7}"/>
          </ac:graphicFrameMkLst>
        </pc:graphicFrameChg>
        <pc:graphicFrameChg chg="add del">
          <ac:chgData name="Devi Murugesan (NQT2 C)" userId="d74f3f27-2b99-4c8b-afb8-1a21b5b33b86" providerId="ADAL" clId="{D78CD33C-DEC7-483C-81D3-45535E414843}" dt="2025-11-20T04:52:09.096" v="67" actId="3680"/>
          <ac:graphicFrameMkLst>
            <pc:docMk/>
            <pc:sldMk cId="1769272254" sldId="260"/>
            <ac:graphicFrameMk id="8" creationId="{AD7A9A50-A54C-A156-AAEA-8682AFF547B9}"/>
          </ac:graphicFrameMkLst>
        </pc:graphicFrameChg>
        <pc:graphicFrameChg chg="add del mod modGraphic">
          <ac:chgData name="Devi Murugesan (NQT2 C)" userId="d74f3f27-2b99-4c8b-afb8-1a21b5b33b86" providerId="ADAL" clId="{D78CD33C-DEC7-483C-81D3-45535E414843}" dt="2025-11-20T04:52:25.657" v="107" actId="3680"/>
          <ac:graphicFrameMkLst>
            <pc:docMk/>
            <pc:sldMk cId="1769272254" sldId="260"/>
            <ac:graphicFrameMk id="9" creationId="{35F2C803-2519-6922-DB3B-0E8A566C5FA5}"/>
          </ac:graphicFrameMkLst>
        </pc:graphicFrameChg>
        <pc:graphicFrameChg chg="add mod modGraphic">
          <ac:chgData name="Devi Murugesan (NQT2 C)" userId="d74f3f27-2b99-4c8b-afb8-1a21b5b33b86" providerId="ADAL" clId="{D78CD33C-DEC7-483C-81D3-45535E414843}" dt="2025-11-20T04:54:06.050" v="192" actId="1035"/>
          <ac:graphicFrameMkLst>
            <pc:docMk/>
            <pc:sldMk cId="1769272254" sldId="260"/>
            <ac:graphicFrameMk id="10" creationId="{B2EDD77D-CBCB-87A4-F6B0-904EC739EB81}"/>
          </ac:graphicFrameMkLst>
        </pc:graphicFrameChg>
        <pc:picChg chg="add del mod">
          <ac:chgData name="Devi Murugesan (NQT2 C)" userId="d74f3f27-2b99-4c8b-afb8-1a21b5b33b86" providerId="ADAL" clId="{D78CD33C-DEC7-483C-81D3-45535E414843}" dt="2025-11-20T04:51:58.683" v="65" actId="478"/>
          <ac:picMkLst>
            <pc:docMk/>
            <pc:sldMk cId="1769272254" sldId="260"/>
            <ac:picMk id="7" creationId="{23F540F1-0F71-50EF-19A0-BE5F75B34183}"/>
          </ac:picMkLst>
        </pc:picChg>
      </pc:sldChg>
      <pc:sldChg chg="modSp new mod">
        <pc:chgData name="Devi Murugesan (NQT2 C)" userId="d74f3f27-2b99-4c8b-afb8-1a21b5b33b86" providerId="ADAL" clId="{D78CD33C-DEC7-483C-81D3-45535E414843}" dt="2025-11-20T04:54:36.872" v="196" actId="27636"/>
        <pc:sldMkLst>
          <pc:docMk/>
          <pc:sldMk cId="401986273" sldId="261"/>
        </pc:sldMkLst>
        <pc:spChg chg="mod">
          <ac:chgData name="Devi Murugesan (NQT2 C)" userId="d74f3f27-2b99-4c8b-afb8-1a21b5b33b86" providerId="ADAL" clId="{D78CD33C-DEC7-483C-81D3-45535E414843}" dt="2025-11-20T04:54:28.105" v="194"/>
          <ac:spMkLst>
            <pc:docMk/>
            <pc:sldMk cId="401986273" sldId="261"/>
            <ac:spMk id="2" creationId="{D8A1B244-00C9-0468-E1F1-51EE7B7EE326}"/>
          </ac:spMkLst>
        </pc:spChg>
        <pc:spChg chg="mod">
          <ac:chgData name="Devi Murugesan (NQT2 C)" userId="d74f3f27-2b99-4c8b-afb8-1a21b5b33b86" providerId="ADAL" clId="{D78CD33C-DEC7-483C-81D3-45535E414843}" dt="2025-11-20T04:54:36.872" v="196" actId="27636"/>
          <ac:spMkLst>
            <pc:docMk/>
            <pc:sldMk cId="401986273" sldId="261"/>
            <ac:spMk id="3" creationId="{28C4115C-C98B-D2A2-C86B-D134A970DE96}"/>
          </ac:spMkLst>
        </pc:spChg>
      </pc:sldChg>
      <pc:sldChg chg="modSp new">
        <pc:chgData name="Devi Murugesan (NQT2 C)" userId="d74f3f27-2b99-4c8b-afb8-1a21b5b33b86" providerId="ADAL" clId="{D78CD33C-DEC7-483C-81D3-45535E414843}" dt="2025-11-20T04:55:00.137" v="199"/>
        <pc:sldMkLst>
          <pc:docMk/>
          <pc:sldMk cId="1429523716" sldId="262"/>
        </pc:sldMkLst>
        <pc:spChg chg="mod">
          <ac:chgData name="Devi Murugesan (NQT2 C)" userId="d74f3f27-2b99-4c8b-afb8-1a21b5b33b86" providerId="ADAL" clId="{D78CD33C-DEC7-483C-81D3-45535E414843}" dt="2025-11-20T04:54:54.834" v="198"/>
          <ac:spMkLst>
            <pc:docMk/>
            <pc:sldMk cId="1429523716" sldId="262"/>
            <ac:spMk id="2" creationId="{2D107729-E678-80B8-0471-00041B7F980A}"/>
          </ac:spMkLst>
        </pc:spChg>
        <pc:spChg chg="mod">
          <ac:chgData name="Devi Murugesan (NQT2 C)" userId="d74f3f27-2b99-4c8b-afb8-1a21b5b33b86" providerId="ADAL" clId="{D78CD33C-DEC7-483C-81D3-45535E414843}" dt="2025-11-20T04:55:00.137" v="199"/>
          <ac:spMkLst>
            <pc:docMk/>
            <pc:sldMk cId="1429523716" sldId="262"/>
            <ac:spMk id="3" creationId="{5F7E6C17-B020-7582-B28C-E892E351A134}"/>
          </ac:spMkLst>
        </pc:spChg>
      </pc:sldChg>
      <pc:sldChg chg="modSp new mod">
        <pc:chgData name="Devi Murugesan (NQT2 C)" userId="d74f3f27-2b99-4c8b-afb8-1a21b5b33b86" providerId="ADAL" clId="{D78CD33C-DEC7-483C-81D3-45535E414843}" dt="2025-11-20T04:55:24.841" v="203" actId="27636"/>
        <pc:sldMkLst>
          <pc:docMk/>
          <pc:sldMk cId="3182259762" sldId="263"/>
        </pc:sldMkLst>
        <pc:spChg chg="mod">
          <ac:chgData name="Devi Murugesan (NQT2 C)" userId="d74f3f27-2b99-4c8b-afb8-1a21b5b33b86" providerId="ADAL" clId="{D78CD33C-DEC7-483C-81D3-45535E414843}" dt="2025-11-20T04:55:12.762" v="201"/>
          <ac:spMkLst>
            <pc:docMk/>
            <pc:sldMk cId="3182259762" sldId="263"/>
            <ac:spMk id="2" creationId="{2D6F1B49-E2F2-49B3-1E30-540DF958D132}"/>
          </ac:spMkLst>
        </pc:spChg>
        <pc:spChg chg="mod">
          <ac:chgData name="Devi Murugesan (NQT2 C)" userId="d74f3f27-2b99-4c8b-afb8-1a21b5b33b86" providerId="ADAL" clId="{D78CD33C-DEC7-483C-81D3-45535E414843}" dt="2025-11-20T04:55:24.841" v="203" actId="27636"/>
          <ac:spMkLst>
            <pc:docMk/>
            <pc:sldMk cId="3182259762" sldId="263"/>
            <ac:spMk id="3" creationId="{3367500B-4B96-30EC-B053-AF366B1DFCA8}"/>
          </ac:spMkLst>
        </pc:spChg>
      </pc:sldChg>
      <pc:sldChg chg="modSp new mod">
        <pc:chgData name="Devi Murugesan (NQT2 C)" userId="d74f3f27-2b99-4c8b-afb8-1a21b5b33b86" providerId="ADAL" clId="{D78CD33C-DEC7-483C-81D3-45535E414843}" dt="2025-11-20T04:55:57.665" v="209" actId="20577"/>
        <pc:sldMkLst>
          <pc:docMk/>
          <pc:sldMk cId="1174266170" sldId="264"/>
        </pc:sldMkLst>
        <pc:spChg chg="mod">
          <ac:chgData name="Devi Murugesan (NQT2 C)" userId="d74f3f27-2b99-4c8b-afb8-1a21b5b33b86" providerId="ADAL" clId="{D78CD33C-DEC7-483C-81D3-45535E414843}" dt="2025-11-20T04:55:45.400" v="206" actId="404"/>
          <ac:spMkLst>
            <pc:docMk/>
            <pc:sldMk cId="1174266170" sldId="264"/>
            <ac:spMk id="2" creationId="{EF110788-EF59-D40A-3BBE-37156A298B4A}"/>
          </ac:spMkLst>
        </pc:spChg>
        <pc:spChg chg="mod">
          <ac:chgData name="Devi Murugesan (NQT2 C)" userId="d74f3f27-2b99-4c8b-afb8-1a21b5b33b86" providerId="ADAL" clId="{D78CD33C-DEC7-483C-81D3-45535E414843}" dt="2025-11-20T04:55:57.665" v="209" actId="20577"/>
          <ac:spMkLst>
            <pc:docMk/>
            <pc:sldMk cId="1174266170" sldId="264"/>
            <ac:spMk id="3" creationId="{46499FCA-9DC0-ABD6-4630-09E0251A38B9}"/>
          </ac:spMkLst>
        </pc:spChg>
      </pc:sldChg>
      <pc:sldChg chg="modSp new mod">
        <pc:chgData name="Devi Murugesan (NQT2 C)" userId="d74f3f27-2b99-4c8b-afb8-1a21b5b33b86" providerId="ADAL" clId="{D78CD33C-DEC7-483C-81D3-45535E414843}" dt="2025-11-20T04:56:22.196" v="215" actId="113"/>
        <pc:sldMkLst>
          <pc:docMk/>
          <pc:sldMk cId="2359831376" sldId="265"/>
        </pc:sldMkLst>
        <pc:spChg chg="mod">
          <ac:chgData name="Devi Murugesan (NQT2 C)" userId="d74f3f27-2b99-4c8b-afb8-1a21b5b33b86" providerId="ADAL" clId="{D78CD33C-DEC7-483C-81D3-45535E414843}" dt="2025-11-20T04:56:08.750" v="211"/>
          <ac:spMkLst>
            <pc:docMk/>
            <pc:sldMk cId="2359831376" sldId="265"/>
            <ac:spMk id="2" creationId="{BED6ABEC-382C-FD70-71C7-B51AD7869D6F}"/>
          </ac:spMkLst>
        </pc:spChg>
        <pc:spChg chg="mod">
          <ac:chgData name="Devi Murugesan (NQT2 C)" userId="d74f3f27-2b99-4c8b-afb8-1a21b5b33b86" providerId="ADAL" clId="{D78CD33C-DEC7-483C-81D3-45535E414843}" dt="2025-11-20T04:56:22.196" v="215" actId="113"/>
          <ac:spMkLst>
            <pc:docMk/>
            <pc:sldMk cId="2359831376" sldId="265"/>
            <ac:spMk id="3" creationId="{DE38C8E0-CCD7-571A-C1D8-D713890BA70A}"/>
          </ac:spMkLst>
        </pc:spChg>
      </pc:sldChg>
      <pc:sldChg chg="modSp new mod">
        <pc:chgData name="Devi Murugesan (NQT2 C)" userId="d74f3f27-2b99-4c8b-afb8-1a21b5b33b86" providerId="ADAL" clId="{D78CD33C-DEC7-483C-81D3-45535E414843}" dt="2025-11-20T05:05:36.122" v="424" actId="33524"/>
        <pc:sldMkLst>
          <pc:docMk/>
          <pc:sldMk cId="563569288" sldId="266"/>
        </pc:sldMkLst>
        <pc:spChg chg="mod">
          <ac:chgData name="Devi Murugesan (NQT2 C)" userId="d74f3f27-2b99-4c8b-afb8-1a21b5b33b86" providerId="ADAL" clId="{D78CD33C-DEC7-483C-81D3-45535E414843}" dt="2025-11-20T05:03:37.996" v="348" actId="20577"/>
          <ac:spMkLst>
            <pc:docMk/>
            <pc:sldMk cId="563569288" sldId="266"/>
            <ac:spMk id="2" creationId="{5CCBEDAE-C45F-0600-DA37-CC3DBBC323E8}"/>
          </ac:spMkLst>
        </pc:spChg>
        <pc:spChg chg="mod">
          <ac:chgData name="Devi Murugesan (NQT2 C)" userId="d74f3f27-2b99-4c8b-afb8-1a21b5b33b86" providerId="ADAL" clId="{D78CD33C-DEC7-483C-81D3-45535E414843}" dt="2025-11-20T05:05:36.122" v="424" actId="33524"/>
          <ac:spMkLst>
            <pc:docMk/>
            <pc:sldMk cId="563569288" sldId="266"/>
            <ac:spMk id="3" creationId="{4FE34B83-B4D8-9D0A-3885-2ACD504F6C21}"/>
          </ac:spMkLst>
        </pc:spChg>
      </pc:sldChg>
      <pc:sldChg chg="addSp delSp modSp new mod">
        <pc:chgData name="Devi Murugesan (NQT2 C)" userId="d74f3f27-2b99-4c8b-afb8-1a21b5b33b86" providerId="ADAL" clId="{D78CD33C-DEC7-483C-81D3-45535E414843}" dt="2025-11-20T05:28:45.496" v="515" actId="14734"/>
        <pc:sldMkLst>
          <pc:docMk/>
          <pc:sldMk cId="1182159787" sldId="267"/>
        </pc:sldMkLst>
        <pc:spChg chg="mod">
          <ac:chgData name="Devi Murugesan (NQT2 C)" userId="d74f3f27-2b99-4c8b-afb8-1a21b5b33b86" providerId="ADAL" clId="{D78CD33C-DEC7-483C-81D3-45535E414843}" dt="2025-11-20T05:06:56.918" v="446" actId="122"/>
          <ac:spMkLst>
            <pc:docMk/>
            <pc:sldMk cId="1182159787" sldId="267"/>
            <ac:spMk id="2" creationId="{7F76337B-B25F-FC3B-44D4-DC8F6AA33352}"/>
          </ac:spMkLst>
        </pc:spChg>
        <pc:spChg chg="del">
          <ac:chgData name="Devi Murugesan (NQT2 C)" userId="d74f3f27-2b99-4c8b-afb8-1a21b5b33b86" providerId="ADAL" clId="{D78CD33C-DEC7-483C-81D3-45535E414843}" dt="2025-11-20T05:07:04.065" v="447" actId="3680"/>
          <ac:spMkLst>
            <pc:docMk/>
            <pc:sldMk cId="1182159787" sldId="267"/>
            <ac:spMk id="3" creationId="{CD869369-0C52-68E7-CE35-25C28A718876}"/>
          </ac:spMkLst>
        </pc:spChg>
        <pc:graphicFrameChg chg="add mod ord modGraphic">
          <ac:chgData name="Devi Murugesan (NQT2 C)" userId="d74f3f27-2b99-4c8b-afb8-1a21b5b33b86" providerId="ADAL" clId="{D78CD33C-DEC7-483C-81D3-45535E414843}" dt="2025-11-20T05:28:45.496" v="515" actId="14734"/>
          <ac:graphicFrameMkLst>
            <pc:docMk/>
            <pc:sldMk cId="1182159787" sldId="267"/>
            <ac:graphicFrameMk id="4" creationId="{20E05F6D-773B-4253-7FBA-D45F1A14F62D}"/>
          </ac:graphicFrameMkLst>
        </pc:graphicFrameChg>
      </pc:sldChg>
      <pc:sldChg chg="modSp new mod">
        <pc:chgData name="Devi Murugesan (NQT2 C)" userId="d74f3f27-2b99-4c8b-afb8-1a21b5b33b86" providerId="ADAL" clId="{D78CD33C-DEC7-483C-81D3-45535E414843}" dt="2025-11-20T05:41:21.345" v="703" actId="20577"/>
        <pc:sldMkLst>
          <pc:docMk/>
          <pc:sldMk cId="2861445066" sldId="268"/>
        </pc:sldMkLst>
        <pc:spChg chg="mod">
          <ac:chgData name="Devi Murugesan (NQT2 C)" userId="d74f3f27-2b99-4c8b-afb8-1a21b5b33b86" providerId="ADAL" clId="{D78CD33C-DEC7-483C-81D3-45535E414843}" dt="2025-11-20T05:41:21.345" v="703" actId="20577"/>
          <ac:spMkLst>
            <pc:docMk/>
            <pc:sldMk cId="2861445066" sldId="268"/>
            <ac:spMk id="2" creationId="{7F3516C1-315D-7E34-A47C-64946E17DCFD}"/>
          </ac:spMkLst>
        </pc:spChg>
        <pc:spChg chg="mod">
          <ac:chgData name="Devi Murugesan (NQT2 C)" userId="d74f3f27-2b99-4c8b-afb8-1a21b5b33b86" providerId="ADAL" clId="{D78CD33C-DEC7-483C-81D3-45535E414843}" dt="2025-11-20T05:41:11.914" v="693" actId="6549"/>
          <ac:spMkLst>
            <pc:docMk/>
            <pc:sldMk cId="2861445066" sldId="268"/>
            <ac:spMk id="3" creationId="{B4A8D443-B031-3593-B67F-697EAD1631E6}"/>
          </ac:spMkLst>
        </pc:spChg>
      </pc:sldChg>
      <pc:sldChg chg="modSp new mod">
        <pc:chgData name="Devi Murugesan (NQT2 C)" userId="d74f3f27-2b99-4c8b-afb8-1a21b5b33b86" providerId="ADAL" clId="{D78CD33C-DEC7-483C-81D3-45535E414843}" dt="2025-11-20T05:45:29.790" v="746" actId="113"/>
        <pc:sldMkLst>
          <pc:docMk/>
          <pc:sldMk cId="2079104567" sldId="269"/>
        </pc:sldMkLst>
        <pc:spChg chg="mod">
          <ac:chgData name="Devi Murugesan (NQT2 C)" userId="d74f3f27-2b99-4c8b-afb8-1a21b5b33b86" providerId="ADAL" clId="{D78CD33C-DEC7-483C-81D3-45535E414843}" dt="2025-11-20T05:41:38.818" v="715" actId="20577"/>
          <ac:spMkLst>
            <pc:docMk/>
            <pc:sldMk cId="2079104567" sldId="269"/>
            <ac:spMk id="2" creationId="{020C4843-9F8D-8A05-E38E-FB149858F564}"/>
          </ac:spMkLst>
        </pc:spChg>
        <pc:spChg chg="mod">
          <ac:chgData name="Devi Murugesan (NQT2 C)" userId="d74f3f27-2b99-4c8b-afb8-1a21b5b33b86" providerId="ADAL" clId="{D78CD33C-DEC7-483C-81D3-45535E414843}" dt="2025-11-20T05:45:29.790" v="746" actId="113"/>
          <ac:spMkLst>
            <pc:docMk/>
            <pc:sldMk cId="2079104567" sldId="269"/>
            <ac:spMk id="3" creationId="{CB9A3F5F-8AC7-5BF0-7337-AAEB79109D11}"/>
          </ac:spMkLst>
        </pc:spChg>
      </pc:sldChg>
      <pc:sldChg chg="addSp delSp modSp new mod">
        <pc:chgData name="Devi Murugesan (NQT2 C)" userId="d74f3f27-2b99-4c8b-afb8-1a21b5b33b86" providerId="ADAL" clId="{D78CD33C-DEC7-483C-81D3-45535E414843}" dt="2025-11-20T05:46:23.535" v="784" actId="1036"/>
        <pc:sldMkLst>
          <pc:docMk/>
          <pc:sldMk cId="3916933002" sldId="270"/>
        </pc:sldMkLst>
        <pc:spChg chg="mod">
          <ac:chgData name="Devi Murugesan (NQT2 C)" userId="d74f3f27-2b99-4c8b-afb8-1a21b5b33b86" providerId="ADAL" clId="{D78CD33C-DEC7-483C-81D3-45535E414843}" dt="2025-11-20T05:46:02.291" v="769" actId="122"/>
          <ac:spMkLst>
            <pc:docMk/>
            <pc:sldMk cId="3916933002" sldId="270"/>
            <ac:spMk id="2" creationId="{EBE266E6-4D0A-2817-356E-2CFADEA11FCE}"/>
          </ac:spMkLst>
        </pc:spChg>
        <pc:spChg chg="del">
          <ac:chgData name="Devi Murugesan (NQT2 C)" userId="d74f3f27-2b99-4c8b-afb8-1a21b5b33b86" providerId="ADAL" clId="{D78CD33C-DEC7-483C-81D3-45535E414843}" dt="2025-11-20T05:46:05.997" v="770"/>
          <ac:spMkLst>
            <pc:docMk/>
            <pc:sldMk cId="3916933002" sldId="270"/>
            <ac:spMk id="3" creationId="{30CF418D-E7FD-8C96-CEF9-AE0B72158D5A}"/>
          </ac:spMkLst>
        </pc:spChg>
        <pc:picChg chg="add mod">
          <ac:chgData name="Devi Murugesan (NQT2 C)" userId="d74f3f27-2b99-4c8b-afb8-1a21b5b33b86" providerId="ADAL" clId="{D78CD33C-DEC7-483C-81D3-45535E414843}" dt="2025-11-20T05:46:23.535" v="784" actId="1036"/>
          <ac:picMkLst>
            <pc:docMk/>
            <pc:sldMk cId="3916933002" sldId="270"/>
            <ac:picMk id="4" creationId="{D5934541-DF91-BC04-9B87-1CDD4E50BA9E}"/>
          </ac:picMkLst>
        </pc:picChg>
      </pc:sldChg>
      <pc:sldChg chg="addSp delSp modSp new mod">
        <pc:chgData name="Devi Murugesan (NQT2 C)" userId="d74f3f27-2b99-4c8b-afb8-1a21b5b33b86" providerId="ADAL" clId="{D78CD33C-DEC7-483C-81D3-45535E414843}" dt="2025-11-20T06:22:24.126" v="890"/>
        <pc:sldMkLst>
          <pc:docMk/>
          <pc:sldMk cId="1478901134" sldId="271"/>
        </pc:sldMkLst>
        <pc:spChg chg="mod">
          <ac:chgData name="Devi Murugesan (NQT2 C)" userId="d74f3f27-2b99-4c8b-afb8-1a21b5b33b86" providerId="ADAL" clId="{D78CD33C-DEC7-483C-81D3-45535E414843}" dt="2025-11-20T06:01:02.163" v="787" actId="122"/>
          <ac:spMkLst>
            <pc:docMk/>
            <pc:sldMk cId="1478901134" sldId="271"/>
            <ac:spMk id="2" creationId="{C4B57EDD-16B8-35C2-E97A-0A4214D479CE}"/>
          </ac:spMkLst>
        </pc:spChg>
        <pc:spChg chg="add del">
          <ac:chgData name="Devi Murugesan (NQT2 C)" userId="d74f3f27-2b99-4c8b-afb8-1a21b5b33b86" providerId="ADAL" clId="{D78CD33C-DEC7-483C-81D3-45535E414843}" dt="2025-11-20T06:03:17.052" v="792" actId="3680"/>
          <ac:spMkLst>
            <pc:docMk/>
            <pc:sldMk cId="1478901134" sldId="271"/>
            <ac:spMk id="3" creationId="{2564EB5D-39B1-EC6E-5B20-366DE7C19FCB}"/>
          </ac:spMkLst>
        </pc:spChg>
        <pc:graphicFrameChg chg="add del mod ord modGraphic">
          <ac:chgData name="Devi Murugesan (NQT2 C)" userId="d74f3f27-2b99-4c8b-afb8-1a21b5b33b86" providerId="ADAL" clId="{D78CD33C-DEC7-483C-81D3-45535E414843}" dt="2025-11-20T06:03:12.043" v="791" actId="3680"/>
          <ac:graphicFrameMkLst>
            <pc:docMk/>
            <pc:sldMk cId="1478901134" sldId="271"/>
            <ac:graphicFrameMk id="4" creationId="{3D6214E9-FB20-DFCD-A106-8F543C4303C8}"/>
          </ac:graphicFrameMkLst>
        </pc:graphicFrameChg>
        <pc:graphicFrameChg chg="add mod ord modGraphic">
          <ac:chgData name="Devi Murugesan (NQT2 C)" userId="d74f3f27-2b99-4c8b-afb8-1a21b5b33b86" providerId="ADAL" clId="{D78CD33C-DEC7-483C-81D3-45535E414843}" dt="2025-11-20T06:22:24.126" v="890"/>
          <ac:graphicFrameMkLst>
            <pc:docMk/>
            <pc:sldMk cId="1478901134" sldId="271"/>
            <ac:graphicFrameMk id="5" creationId="{1EC62FB7-8250-6FB0-B3F4-5E0D48354FE0}"/>
          </ac:graphicFrameMkLst>
        </pc:graphicFrameChg>
      </pc:sldChg>
      <pc:sldChg chg="modSp add mod">
        <pc:chgData name="Devi Murugesan (NQT2 C)" userId="d74f3f27-2b99-4c8b-afb8-1a21b5b33b86" providerId="ADAL" clId="{D78CD33C-DEC7-483C-81D3-45535E414843}" dt="2025-11-20T06:30:41.252" v="932" actId="108"/>
        <pc:sldMkLst>
          <pc:docMk/>
          <pc:sldMk cId="4052548196" sldId="272"/>
        </pc:sldMkLst>
        <pc:spChg chg="mod">
          <ac:chgData name="Devi Murugesan (NQT2 C)" userId="d74f3f27-2b99-4c8b-afb8-1a21b5b33b86" providerId="ADAL" clId="{D78CD33C-DEC7-483C-81D3-45535E414843}" dt="2025-11-20T06:29:13.064" v="917" actId="1035"/>
          <ac:spMkLst>
            <pc:docMk/>
            <pc:sldMk cId="4052548196" sldId="272"/>
            <ac:spMk id="2" creationId="{6D774105-0065-57BD-4578-E0306CD0C0F5}"/>
          </ac:spMkLst>
        </pc:spChg>
        <pc:graphicFrameChg chg="mod modGraphic">
          <ac:chgData name="Devi Murugesan (NQT2 C)" userId="d74f3f27-2b99-4c8b-afb8-1a21b5b33b86" providerId="ADAL" clId="{D78CD33C-DEC7-483C-81D3-45535E414843}" dt="2025-11-20T06:30:41.252" v="932" actId="108"/>
          <ac:graphicFrameMkLst>
            <pc:docMk/>
            <pc:sldMk cId="4052548196" sldId="272"/>
            <ac:graphicFrameMk id="5" creationId="{109C6412-B9AD-4008-2991-249ECC2BD52B}"/>
          </ac:graphicFrameMkLst>
        </pc:graphicFrameChg>
      </pc:sldChg>
      <pc:sldChg chg="addSp delSp modSp new mod">
        <pc:chgData name="Devi Murugesan (NQT2 C)" userId="d74f3f27-2b99-4c8b-afb8-1a21b5b33b86" providerId="ADAL" clId="{D78CD33C-DEC7-483C-81D3-45535E414843}" dt="2025-11-20T06:47:58.896" v="1106" actId="14734"/>
        <pc:sldMkLst>
          <pc:docMk/>
          <pc:sldMk cId="2622226000" sldId="273"/>
        </pc:sldMkLst>
        <pc:spChg chg="mod">
          <ac:chgData name="Devi Murugesan (NQT2 C)" userId="d74f3f27-2b99-4c8b-afb8-1a21b5b33b86" providerId="ADAL" clId="{D78CD33C-DEC7-483C-81D3-45535E414843}" dt="2025-11-20T06:32:17.583" v="1017" actId="20577"/>
          <ac:spMkLst>
            <pc:docMk/>
            <pc:sldMk cId="2622226000" sldId="273"/>
            <ac:spMk id="2" creationId="{1B6078EE-9A6E-0D33-DEB9-DB9C13A0BBB5}"/>
          </ac:spMkLst>
        </pc:spChg>
        <pc:spChg chg="del mod">
          <ac:chgData name="Devi Murugesan (NQT2 C)" userId="d74f3f27-2b99-4c8b-afb8-1a21b5b33b86" providerId="ADAL" clId="{D78CD33C-DEC7-483C-81D3-45535E414843}" dt="2025-11-20T06:31:38.395" v="961" actId="3680"/>
          <ac:spMkLst>
            <pc:docMk/>
            <pc:sldMk cId="2622226000" sldId="273"/>
            <ac:spMk id="3" creationId="{8FB030C2-ADD4-48F6-47FA-E0EC1A9D5261}"/>
          </ac:spMkLst>
        </pc:spChg>
        <pc:graphicFrameChg chg="add mod ord modGraphic">
          <ac:chgData name="Devi Murugesan (NQT2 C)" userId="d74f3f27-2b99-4c8b-afb8-1a21b5b33b86" providerId="ADAL" clId="{D78CD33C-DEC7-483C-81D3-45535E414843}" dt="2025-11-20T06:47:58.896" v="1106" actId="14734"/>
          <ac:graphicFrameMkLst>
            <pc:docMk/>
            <pc:sldMk cId="2622226000" sldId="273"/>
            <ac:graphicFrameMk id="4" creationId="{89A0C4A7-C9F8-608F-BEE4-B64F2A640F88}"/>
          </ac:graphicFrameMkLst>
        </pc:graphicFrameChg>
      </pc:sldChg>
      <pc:sldChg chg="modSp add mod">
        <pc:chgData name="Devi Murugesan (NQT2 C)" userId="d74f3f27-2b99-4c8b-afb8-1a21b5b33b86" providerId="ADAL" clId="{D78CD33C-DEC7-483C-81D3-45535E414843}" dt="2025-11-20T06:55:33.182" v="1149" actId="20577"/>
        <pc:sldMkLst>
          <pc:docMk/>
          <pc:sldMk cId="1327604092" sldId="274"/>
        </pc:sldMkLst>
        <pc:graphicFrameChg chg="mod modGraphic">
          <ac:chgData name="Devi Murugesan (NQT2 C)" userId="d74f3f27-2b99-4c8b-afb8-1a21b5b33b86" providerId="ADAL" clId="{D78CD33C-DEC7-483C-81D3-45535E414843}" dt="2025-11-20T06:55:33.182" v="1149" actId="20577"/>
          <ac:graphicFrameMkLst>
            <pc:docMk/>
            <pc:sldMk cId="1327604092" sldId="274"/>
            <ac:graphicFrameMk id="4" creationId="{3648A91D-3B16-E1A4-C58D-ED71D6AB053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11/20/2025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3705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11/20/2025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799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11/20/2025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3566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11/20/2025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90273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11/20/2025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4295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11/20/2025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706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11/20/2025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1666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11/20/2025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3579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11/20/2025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0102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11/20/2025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7315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11/20/2025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835982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11/20/2025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9" name="TextBox 8">
            <a:extLst>
              <a:ext uri="{FF2B5EF4-FFF2-40B4-BE49-F238E27FC236}">
                <a16:creationId xmlns:a16="http://schemas.microsoft.com/office/drawing/2014/main" id="{807BE3DA-BC1D-4F2E-F216-6E1157D82FFD}"/>
              </a:ext>
            </a:extLst>
          </p:cNvPr>
          <p:cNvSpPr txBox="1"/>
          <p:nvPr userDrawn="1">
            <p:extLst>
              <p:ext uri="{1162E1C5-73C7-4A58-AE30-91384D911F3F}">
                <p184:classification xmlns:p184="http://schemas.microsoft.com/office/powerpoint/2018/4/main" val="hdr"/>
              </p:ext>
            </p:extLst>
          </p:nvPr>
        </p:nvSpPr>
        <p:spPr>
          <a:xfrm>
            <a:off x="11674475" y="63500"/>
            <a:ext cx="485775" cy="137160"/>
          </a:xfrm>
          <a:prstGeom prst="rect">
            <a:avLst/>
          </a:prstGeom>
        </p:spPr>
        <p:txBody>
          <a:bodyPr horzOverflow="overflow" lIns="0" tIns="0" rIns="0" bIns="0">
            <a:spAutoFit/>
          </a:bodyPr>
          <a:lstStyle/>
          <a:p>
            <a:pPr algn="l"/>
            <a:r>
              <a:rPr lang="en-IN" sz="900">
                <a:solidFill>
                  <a:srgbClr val="5514B4">
                    <a:alpha val="50000"/>
                  </a:srgbClr>
                </a:solidFill>
                <a:latin typeface="Century Gothic" panose="020B0502020202020204" pitchFamily="34" charset="0"/>
              </a:rPr>
              <a:t>General</a:t>
            </a:r>
          </a:p>
        </p:txBody>
      </p:sp>
      <p:sp>
        <p:nvSpPr>
          <p:cNvPr id="10" name="TextBox 9">
            <a:extLst>
              <a:ext uri="{FF2B5EF4-FFF2-40B4-BE49-F238E27FC236}">
                <a16:creationId xmlns:a16="http://schemas.microsoft.com/office/drawing/2014/main" id="{C808643C-6E50-29FE-112E-C70E3E148860}"/>
              </a:ext>
            </a:extLst>
          </p:cNvPr>
          <p:cNvSpPr txBox="1"/>
          <p:nvPr userDrawn="1">
            <p:extLst>
              <p:ext uri="{1162E1C5-73C7-4A58-AE30-91384D911F3F}">
                <p184:classification xmlns:p184="http://schemas.microsoft.com/office/powerpoint/2018/4/main" val="ftr"/>
              </p:ext>
            </p:extLst>
          </p:nvPr>
        </p:nvSpPr>
        <p:spPr>
          <a:xfrm>
            <a:off x="11674475" y="6657340"/>
            <a:ext cx="485775" cy="137160"/>
          </a:xfrm>
          <a:prstGeom prst="rect">
            <a:avLst/>
          </a:prstGeom>
        </p:spPr>
        <p:txBody>
          <a:bodyPr horzOverflow="overflow" lIns="0" tIns="0" rIns="0" bIns="0">
            <a:spAutoFit/>
          </a:bodyPr>
          <a:lstStyle/>
          <a:p>
            <a:pPr algn="l"/>
            <a:r>
              <a:rPr lang="en-IN" sz="900">
                <a:solidFill>
                  <a:srgbClr val="5514B4">
                    <a:alpha val="50000"/>
                  </a:srgbClr>
                </a:solidFill>
                <a:latin typeface="Century Gothic" panose="020B0502020202020204" pitchFamily="34" charset="0"/>
              </a:rPr>
              <a:t>General</a:t>
            </a:r>
          </a:p>
        </p:txBody>
      </p:sp>
    </p:spTree>
    <p:extLst>
      <p:ext uri="{BB962C8B-B14F-4D97-AF65-F5344CB8AC3E}">
        <p14:creationId xmlns:p14="http://schemas.microsoft.com/office/powerpoint/2010/main" val="291062826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5473D2-DD46-DFAF-84EC-264D6CE58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a:p>
        </p:txBody>
      </p:sp>
      <p:sp>
        <p:nvSpPr>
          <p:cNvPr id="2" name="Title 1">
            <a:extLst>
              <a:ext uri="{FF2B5EF4-FFF2-40B4-BE49-F238E27FC236}">
                <a16:creationId xmlns:a16="http://schemas.microsoft.com/office/drawing/2014/main" id="{52BAB671-5D37-B349-8B9F-8874D4F6CE36}"/>
              </a:ext>
            </a:extLst>
          </p:cNvPr>
          <p:cNvSpPr>
            <a:spLocks noGrp="1"/>
          </p:cNvSpPr>
          <p:nvPr>
            <p:ph type="ctrTitle"/>
          </p:nvPr>
        </p:nvSpPr>
        <p:spPr>
          <a:xfrm>
            <a:off x="7843394" y="1585762"/>
            <a:ext cx="4229269" cy="2811737"/>
          </a:xfrm>
        </p:spPr>
        <p:txBody>
          <a:bodyPr>
            <a:normAutofit/>
          </a:bodyPr>
          <a:lstStyle/>
          <a:p>
            <a:pPr algn="l"/>
            <a:r>
              <a:rPr lang="en-IN" sz="1800" dirty="0" err="1">
                <a:solidFill>
                  <a:srgbClr val="000000"/>
                </a:solidFill>
                <a:latin typeface="Calibri"/>
              </a:rPr>
              <a:t>Gpay</a:t>
            </a:r>
            <a:r>
              <a:rPr lang="en-IN" sz="1800" dirty="0">
                <a:solidFill>
                  <a:srgbClr val="000000"/>
                </a:solidFill>
                <a:latin typeface="Calibri"/>
              </a:rPr>
              <a:t> - Junior</a:t>
            </a:r>
          </a:p>
        </p:txBody>
      </p:sp>
      <p:sp>
        <p:nvSpPr>
          <p:cNvPr id="3" name="Subtitle 2">
            <a:extLst>
              <a:ext uri="{FF2B5EF4-FFF2-40B4-BE49-F238E27FC236}">
                <a16:creationId xmlns:a16="http://schemas.microsoft.com/office/drawing/2014/main" id="{827A8A68-E0DE-7FE5-DF4E-5B9B54030BA4}"/>
              </a:ext>
            </a:extLst>
          </p:cNvPr>
          <p:cNvSpPr>
            <a:spLocks noGrp="1"/>
          </p:cNvSpPr>
          <p:nvPr>
            <p:ph type="subTitle" idx="1"/>
          </p:nvPr>
        </p:nvSpPr>
        <p:spPr>
          <a:xfrm>
            <a:off x="7843395" y="4524046"/>
            <a:ext cx="3614857" cy="1319951"/>
          </a:xfrm>
        </p:spPr>
        <p:txBody>
          <a:bodyPr>
            <a:normAutofit/>
          </a:bodyPr>
          <a:lstStyle/>
          <a:p>
            <a:pPr algn="l"/>
            <a:r>
              <a:rPr lang="en-GB" dirty="0" sz="1800">
                <a:solidFill>
                  <a:srgbClr val="000000"/>
                </a:solidFill>
                <a:latin typeface="Calibri"/>
              </a:rPr>
              <a:t>Innovative Business Solutions with Large Language Models (LLMs)</a:t>
            </a:r>
          </a:p>
          <a:p>
            <a:pPr algn="l"/>
            <a:endParaRPr lang="en-IN" dirty="0"/>
          </a:p>
        </p:txBody>
      </p:sp>
      <p:pic>
        <p:nvPicPr>
          <p:cNvPr id="4" name="Picture 3" descr="A splash of colors on a white surface">
            <a:extLst>
              <a:ext uri="{FF2B5EF4-FFF2-40B4-BE49-F238E27FC236}">
                <a16:creationId xmlns:a16="http://schemas.microsoft.com/office/drawing/2014/main" id="{AA3619BF-E655-E121-9ED8-56E01201D8EC}"/>
              </a:ext>
            </a:extLst>
          </p:cNvPr>
          <p:cNvPicPr>
            <a:picLocks noChangeAspect="1"/>
          </p:cNvPicPr>
          <p:nvPr/>
        </p:nvPicPr>
        <p:blipFill>
          <a:blip r:embed="rId2"/>
          <a:srcRect r="19425"/>
          <a:stretch>
            <a:fillRect/>
          </a:stretch>
        </p:blipFill>
        <p:spPr>
          <a:xfrm>
            <a:off x="2" y="10"/>
            <a:ext cx="7367752" cy="6857990"/>
          </a:xfrm>
          <a:prstGeom prst="rect">
            <a:avLst/>
          </a:prstGeom>
        </p:spPr>
      </p:pic>
      <p:sp>
        <p:nvSpPr>
          <p:cNvPr id="10" name="TextBox 9"/>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11" name="TextBox 10"/>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036619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51132-9DB4-9979-A2F6-5E721FDFB8BC}"/>
              </a:ext>
            </a:extLst>
          </p:cNvPr>
          <p:cNvSpPr>
            <a:spLocks noGrp="1"/>
          </p:cNvSpPr>
          <p:nvPr>
            <p:ph type="title"/>
          </p:nvPr>
        </p:nvSpPr>
        <p:spPr>
          <a:xfrm>
            <a:off x="612648" y="548640"/>
            <a:ext cx="10653578" cy="648112"/>
          </a:xfrm>
        </p:spPr>
        <p:txBody>
          <a:bodyPr/>
          <a:lstStyle/>
          <a:p>
            <a:pPr algn="l"/>
            <a:r>
              <a:rPr lang="en-IN" dirty="0" err="1" sz="1800">
                <a:solidFill>
                  <a:srgbClr val="000000"/>
                </a:solidFill>
                <a:latin typeface="Calibri"/>
              </a:rPr>
              <a:t>GPay</a:t>
            </a:r>
            <a:endParaRPr lang="en-IN" dirty="0"/>
          </a:p>
        </p:txBody>
      </p:sp>
      <p:sp>
        <p:nvSpPr>
          <p:cNvPr id="3" name="Content Placeholder 2">
            <a:extLst>
              <a:ext uri="{FF2B5EF4-FFF2-40B4-BE49-F238E27FC236}">
                <a16:creationId xmlns:a16="http://schemas.microsoft.com/office/drawing/2014/main" id="{F5BA31B5-CA91-CF84-0FC2-B80E1358B202}"/>
              </a:ext>
            </a:extLst>
          </p:cNvPr>
          <p:cNvSpPr>
            <a:spLocks noGrp="1"/>
          </p:cNvSpPr>
          <p:nvPr>
            <p:ph idx="1"/>
          </p:nvPr>
        </p:nvSpPr>
        <p:spPr>
          <a:xfrm>
            <a:off x="612647" y="1412776"/>
            <a:ext cx="10653579" cy="4593828"/>
          </a:xfrm>
        </p:spPr>
        <p:txBody>
          <a:bodyPr>
            <a:normAutofit fontScale="85000" lnSpcReduction="20000"/>
          </a:bodyPr>
          <a:lstStyle/>
          <a:p>
            <a:pPr algn="l">
              <a:spcBef>
                <a:spcPts val="1200"/>
              </a:spcBef>
            </a:pPr>
            <a:r>
              <a:rPr lang="en-GB" dirty="0" sz="1800">
                <a:solidFill>
                  <a:srgbClr val="000000"/>
                </a:solidFill>
                <a:latin typeface="Calibri"/>
              </a:rPr>
              <a:t>Google Pay is a dominant player in India's digital payments landscape, with a significant market share in UPI </a:t>
            </a:r>
            <a:r>
              <a:rPr lang="en-GB" dirty="0" err="1" sz="1800">
                <a:solidFill>
                  <a:srgbClr val="000000"/>
                </a:solidFill>
                <a:latin typeface="Calibri"/>
              </a:rPr>
              <a:t>transactions.It</a:t>
            </a:r>
            <a:r>
              <a:rPr lang="en-GB" dirty="0" sz="1800">
                <a:solidFill>
                  <a:srgbClr val="000000"/>
                </a:solidFill>
                <a:latin typeface="Calibri"/>
              </a:rPr>
              <a:t> is specifically designed for the Indian market and requires an Indian bank account and phone number. Google Pay is a Third Party Application Provider (TPAP) authorized by the National Payments Corporation of India (NPCI) to facilitate payments via UPI. This enables instant, inter-bank fund transfers using a virtual payment address (VPA), phone number, or QR </a:t>
            </a:r>
            <a:r>
              <a:rPr lang="en-GB" dirty="0" err="1" sz="1800">
                <a:solidFill>
                  <a:srgbClr val="000000"/>
                </a:solidFill>
                <a:latin typeface="Calibri"/>
              </a:rPr>
              <a:t>codes.The</a:t>
            </a:r>
            <a:r>
              <a:rPr lang="en-GB" dirty="0" sz="1800">
                <a:solidFill>
                  <a:srgbClr val="000000"/>
                </a:solidFill>
                <a:latin typeface="Calibri"/>
              </a:rPr>
              <a:t> service emphasizes security, protecting payment information with multiple layers of encryption, fraud protection, and built-in authentication methods like PINs or </a:t>
            </a:r>
            <a:r>
              <a:rPr lang="en-GB" dirty="0" err="1" sz="1800">
                <a:solidFill>
                  <a:srgbClr val="000000"/>
                </a:solidFill>
                <a:latin typeface="Calibri"/>
              </a:rPr>
              <a:t>fingerprints.The</a:t>
            </a:r>
            <a:r>
              <a:rPr lang="en-GB" dirty="0" sz="1800">
                <a:solidFill>
                  <a:srgbClr val="000000"/>
                </a:solidFill>
                <a:latin typeface="Calibri"/>
              </a:rPr>
              <a:t> app also offers features like a platform to apply for credit cards from partner institutions, check CIBIL credit scores, access loan facilities from third-party lenders, and invest in a Gold Accumulation Plan (GAP) through MMTC-PAMP. </a:t>
            </a:r>
          </a:p>
          <a:p>
            <a:pPr algn="l">
              <a:spcBef>
                <a:spcPts val="1200"/>
              </a:spcBef>
            </a:pPr>
            <a:endParaRPr lang="en-GB" dirty="0"/>
          </a:p>
          <a:p>
            <a:pPr algn="l">
              <a:spcBef>
                <a:spcPts val="1200"/>
              </a:spcBef>
            </a:pPr>
            <a:r>
              <a:rPr lang="en-GB" dirty="0" sz="1800">
                <a:solidFill>
                  <a:srgbClr val="000000"/>
                </a:solidFill>
                <a:latin typeface="Calibri"/>
              </a:rPr>
              <a:t>Google Pay is available for teens (ages 13-18) in India, but it's a specific, supervised experience designed with safety and legal compliance in mind. The app is not completely unavailable; rather, the features are limited and often require parental involvement due to legal age restrictions for financial contracts in India. </a:t>
            </a:r>
          </a:p>
          <a:p>
            <a:pPr algn="l"/>
            <a:endParaRPr lang="en-IN" dirty="0"/>
          </a:p>
          <a:p>
            <a:pPr algn="l"/>
            <a:endParaRPr lang="en-IN" dirty="0"/>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898603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58F7-0824-6FF6-E341-E4A0C5879C1B}"/>
              </a:ext>
            </a:extLst>
          </p:cNvPr>
          <p:cNvSpPr>
            <a:spLocks noGrp="1"/>
          </p:cNvSpPr>
          <p:nvPr>
            <p:ph type="title"/>
          </p:nvPr>
        </p:nvSpPr>
        <p:spPr/>
        <p:txBody>
          <a:bodyPr/>
          <a:lstStyle/>
          <a:p>
            <a:pPr algn="l"/>
            <a:r>
              <a:rPr lang="en-IN" dirty="0" err="1" sz="1800">
                <a:solidFill>
                  <a:srgbClr val="000000"/>
                </a:solidFill>
                <a:latin typeface="Calibri"/>
              </a:rPr>
              <a:t>Gpay</a:t>
            </a:r>
            <a:r>
              <a:rPr lang="en-IN" dirty="0" sz="1800">
                <a:solidFill>
                  <a:srgbClr val="000000"/>
                </a:solidFill>
                <a:latin typeface="Calibri"/>
              </a:rPr>
              <a:t> - Junior </a:t>
            </a:r>
          </a:p>
        </p:txBody>
      </p:sp>
      <p:sp>
        <p:nvSpPr>
          <p:cNvPr id="3" name="Content Placeholder 2">
            <a:extLst>
              <a:ext uri="{FF2B5EF4-FFF2-40B4-BE49-F238E27FC236}">
                <a16:creationId xmlns:a16="http://schemas.microsoft.com/office/drawing/2014/main" id="{785E16A8-404B-6314-0A78-F089F7072F39}"/>
              </a:ext>
            </a:extLst>
          </p:cNvPr>
          <p:cNvSpPr>
            <a:spLocks noGrp="1"/>
          </p:cNvSpPr>
          <p:nvPr>
            <p:ph idx="1"/>
          </p:nvPr>
        </p:nvSpPr>
        <p:spPr/>
        <p:txBody>
          <a:bodyPr>
            <a:normAutofit fontScale="55000" lnSpcReduction="20000"/>
          </a:bodyPr>
          <a:lstStyle/>
          <a:p>
            <a:pPr algn="l">
              <a:spcBef>
                <a:spcPts val="1200"/>
              </a:spcBef>
            </a:pPr>
            <a:r>
              <a:rPr lang="en-GB" sz="1800" dirty="0">
                <a:solidFill>
                  <a:srgbClr val="000000"/>
                </a:solidFill>
                <a:latin typeface="Calibri"/>
              </a:rPr>
              <a:t>Fewer teens use Google Pay due to age restrictions requiring parental consent, limited features for underage users, and a lack of independent bank accounts. While some platforms offer a "supervised" experience, many teens still rely on cash because they don't have a bank account or prefer other digital wallets designed for them. </a:t>
            </a:r>
          </a:p>
          <a:p>
            <a:pPr algn="l">
              <a:spcBef>
                <a:spcPts val="1200"/>
              </a:spcBef>
            </a:pPr>
            <a:r>
              <a:rPr lang="en-GB" sz="1800" dirty="0">
                <a:solidFill>
                  <a:srgbClr val="000000"/>
                </a:solidFill>
                <a:latin typeface="Calibri"/>
              </a:rPr>
              <a:t>Our new app </a:t>
            </a:r>
            <a:r>
              <a:rPr lang="en-GB" sz="1800" dirty="0" err="1">
                <a:solidFill>
                  <a:srgbClr val="000000"/>
                </a:solidFill>
                <a:latin typeface="Calibri"/>
              </a:rPr>
              <a:t>Gpay</a:t>
            </a:r>
            <a:r>
              <a:rPr lang="en-GB" sz="1800" dirty="0">
                <a:solidFill>
                  <a:srgbClr val="000000"/>
                </a:solidFill>
                <a:latin typeface="Calibri"/>
              </a:rPr>
              <a:t> – Junior, a neobank for teenagers, enabling cashless transactions via UPI and prepaid cards without requiring a traditional bank account. It promotes financial literacy, safe digital payments, and parental oversight for users aged 11–18 years.</a:t>
            </a:r>
          </a:p>
          <a:p>
            <a:pPr algn="l">
              <a:spcBef>
                <a:spcPts val="1200"/>
              </a:spcBef>
            </a:pPr>
            <a:endParaRPr lang="en-GB" sz="3200" dirty="0"/>
          </a:p>
          <a:p>
            <a:pPr algn="l">
              <a:spcBef>
                <a:spcPts val="1200"/>
              </a:spcBef>
            </a:pPr>
            <a:r>
              <a:rPr lang="en-GB" sz="1800" dirty="0">
                <a:solidFill>
                  <a:srgbClr val="000000"/>
                </a:solidFill>
                <a:latin typeface="Calibri"/>
              </a:rPr>
              <a:t>The objective of this app is </a:t>
            </a:r>
          </a:p>
          <a:p>
            <a:pPr marL="457200" lvl="4" indent="-457200" algn="l">
              <a:spcBef>
                <a:spcPts val="1200"/>
              </a:spcBef>
            </a:pPr>
            <a:r>
              <a:rPr lang="en-GB" sz="1800" dirty="0">
                <a:solidFill>
                  <a:srgbClr val="000000"/>
                </a:solidFill>
                <a:latin typeface="Calibri"/>
              </a:rPr>
              <a:t>Empower teens to make secure digital payments.</a:t>
            </a:r>
          </a:p>
          <a:p>
            <a:pPr marL="457200" lvl="4" indent="-457200" algn="l">
              <a:spcBef>
                <a:spcPts val="1200"/>
              </a:spcBef>
            </a:pPr>
            <a:r>
              <a:rPr lang="en-GB" sz="1800" dirty="0">
                <a:solidFill>
                  <a:srgbClr val="000000"/>
                </a:solidFill>
                <a:latin typeface="Calibri"/>
              </a:rPr>
              <a:t>Provide parents with control and visibility over spending.</a:t>
            </a:r>
          </a:p>
          <a:p>
            <a:pPr marL="457200" lvl="4" indent="-457200" algn="l">
              <a:spcBef>
                <a:spcPts val="1200"/>
              </a:spcBef>
            </a:pPr>
            <a:r>
              <a:rPr lang="en-GB" sz="1800" dirty="0">
                <a:solidFill>
                  <a:srgbClr val="000000"/>
                </a:solidFill>
                <a:latin typeface="Calibri"/>
              </a:rPr>
              <a:t>Ensure compliance with RBI guidelines for minors and PPIs.</a:t>
            </a:r>
          </a:p>
          <a:p>
            <a:pPr marL="457200" lvl="4" indent="-457200" algn="l">
              <a:spcBef>
                <a:spcPts val="1200"/>
              </a:spcBef>
            </a:pPr>
            <a:r>
              <a:rPr lang="en-GB" sz="1800" dirty="0">
                <a:solidFill>
                  <a:srgbClr val="000000"/>
                </a:solidFill>
                <a:latin typeface="Calibri"/>
              </a:rPr>
              <a:t>Enhance user experience with gamified financial education.</a:t>
            </a: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403553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2B8BF-D007-36D2-E05D-283D83FC91F4}"/>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T</a:t>
            </a:r>
            <a:r>
              <a:rPr lang="en-IN" dirty="0" sz="1800">
                <a:solidFill>
                  <a:srgbClr val="000000"/>
                </a:solidFill>
                <a:latin typeface="Calibri"/>
                <a:ea typeface="Open Sans"/>
                <a:cs typeface="Open Sans"/>
                <a:sym typeface="Open Sans"/>
              </a:rPr>
              <a:t>a</a:t>
            </a:r>
            <a:r>
              <a:rPr lang="en" dirty="0" sz="1800">
                <a:solidFill>
                  <a:srgbClr val="000000"/>
                </a:solidFill>
                <a:latin typeface="Calibri"/>
                <a:ea typeface="Open Sans"/>
                <a:cs typeface="Open Sans"/>
                <a:sym typeface="Open Sans"/>
              </a:rPr>
              <a:t>rget Users</a:t>
            </a:r>
            <a:endParaRPr lang="en-IN" dirty="0"/>
          </a:p>
        </p:txBody>
      </p:sp>
      <p:sp>
        <p:nvSpPr>
          <p:cNvPr id="3" name="Content Placeholder 2">
            <a:extLst>
              <a:ext uri="{FF2B5EF4-FFF2-40B4-BE49-F238E27FC236}">
                <a16:creationId xmlns:a16="http://schemas.microsoft.com/office/drawing/2014/main" id="{8D7B9678-A035-2ED8-C606-F317856DFBA6}"/>
              </a:ext>
            </a:extLst>
          </p:cNvPr>
          <p:cNvSpPr>
            <a:spLocks noGrp="1"/>
          </p:cNvSpPr>
          <p:nvPr>
            <p:ph idx="1"/>
          </p:nvPr>
        </p:nvSpPr>
        <p:spPr/>
        <p:txBody>
          <a:bodyPr/>
          <a:lstStyle/>
          <a:p>
            <a:pPr marL="0" lvl="0" indent="0" eaLnBrk="0" fontAlgn="base" hangingPunct="0" algn="l">
              <a:lnSpc>
                <a:spcPct val="100000"/>
              </a:lnSpc>
              <a:spcBef>
                <a:spcPct val="0"/>
              </a:spcBef>
              <a:spcAft>
                <a:spcPct val="0"/>
              </a:spcAft>
              <a:buFontTx/>
              <a:buChar char="•"/>
            </a:pPr>
            <a:r>
              <a:rPr lang="en-GB" altLang="en-US" dirty="0" sz="1800">
                <a:solidFill>
                  <a:srgbClr val="000000"/>
                </a:solidFill>
                <a:latin typeface="Calibri" panose="020B0604020202020204" pitchFamily="34" charset="0"/>
              </a:rPr>
              <a:t>Primary: Teenagers (11–18 years) seeking independence in digital payments.</a:t>
            </a:r>
          </a:p>
          <a:p>
            <a:pPr marL="0" lvl="0" indent="0" eaLnBrk="0" fontAlgn="base" hangingPunct="0" algn="l">
              <a:lnSpc>
                <a:spcPct val="100000"/>
              </a:lnSpc>
              <a:spcBef>
                <a:spcPct val="0"/>
              </a:spcBef>
              <a:spcAft>
                <a:spcPct val="0"/>
              </a:spcAft>
              <a:buFontTx/>
              <a:buChar char="•"/>
            </a:pPr>
            <a:r>
              <a:rPr lang="en-GB" altLang="en-US" dirty="0" sz="1800">
                <a:solidFill>
                  <a:srgbClr val="000000"/>
                </a:solidFill>
                <a:latin typeface="Calibri" panose="020B0604020202020204" pitchFamily="34" charset="0"/>
              </a:rPr>
              <a:t>Secondary: Parents/guardians who fund and monitor transactions.</a:t>
            </a:r>
            <a:endParaRPr lang="en-US" altLang="en-US" dirty="0">
              <a:latin typeface="Arial" panose="020B0604020202020204" pitchFamily="34" charset="0"/>
            </a:endParaRP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42999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9145-D513-BA17-E326-548D50017D21}"/>
              </a:ext>
            </a:extLst>
          </p:cNvPr>
          <p:cNvSpPr>
            <a:spLocks noGrp="1"/>
          </p:cNvSpPr>
          <p:nvPr>
            <p:ph type="title"/>
          </p:nvPr>
        </p:nvSpPr>
        <p:spPr/>
        <p:txBody>
          <a:bodyPr/>
          <a:lstStyle/>
          <a:p>
            <a:pPr algn="l"/>
            <a:r>
              <a:rPr lang="en-IN" dirty="0" sz="1800">
                <a:solidFill>
                  <a:srgbClr val="000000"/>
                </a:solidFill>
                <a:latin typeface="Calibri"/>
              </a:rPr>
              <a:t>The Problem</a:t>
            </a:r>
          </a:p>
        </p:txBody>
      </p:sp>
      <p:sp>
        <p:nvSpPr>
          <p:cNvPr id="3" name="Content Placeholder 2">
            <a:extLst>
              <a:ext uri="{FF2B5EF4-FFF2-40B4-BE49-F238E27FC236}">
                <a16:creationId xmlns:a16="http://schemas.microsoft.com/office/drawing/2014/main" id="{8F7609C2-A802-8407-FA51-AA7DD08D907F}"/>
              </a:ext>
            </a:extLst>
          </p:cNvPr>
          <p:cNvSpPr>
            <a:spLocks noGrp="1"/>
          </p:cNvSpPr>
          <p:nvPr>
            <p:ph idx="1"/>
          </p:nvPr>
        </p:nvSpPr>
        <p:spPr>
          <a:xfrm>
            <a:off x="612647" y="1283444"/>
            <a:ext cx="10653579" cy="4593828"/>
          </a:xfrm>
        </p:spPr>
        <p:txBody>
          <a:bodyPr/>
          <a:lstStyle/>
          <a:p>
            <a:pPr algn="l"/>
            <a:r>
              <a:rPr lang="en-GB" dirty="0" sz="1800">
                <a:solidFill>
                  <a:srgbClr val="000000"/>
                </a:solidFill>
                <a:latin typeface="Calibri"/>
              </a:rPr>
              <a:t>Teenagers in India not having access to the Unified Payments Interface (UPI) face significant effects, primarily related to delayed financial literacy and inclusion, depending on cash or parents, and limited exposure in managing their own expenses. </a:t>
            </a:r>
            <a:endParaRPr lang="en-GB" sz="2400" dirty="0">
              <a:solidFill>
                <a:schemeClr val="accent1"/>
              </a:solidFill>
            </a:endParaRPr>
          </a:p>
          <a:p>
            <a:pPr algn="l"/>
            <a:endParaRPr lang="en-IN" dirty="0"/>
          </a:p>
        </p:txBody>
      </p:sp>
      <p:graphicFrame>
        <p:nvGraphicFramePr>
          <p:cNvPr id="10" name="Table 9">
            <a:extLst>
              <a:ext uri="{FF2B5EF4-FFF2-40B4-BE49-F238E27FC236}">
                <a16:creationId xmlns:a16="http://schemas.microsoft.com/office/drawing/2014/main" id="{B2EDD77D-CBCB-87A4-F6B0-904EC739EB81}"/>
              </a:ext>
            </a:extLst>
          </p:cNvPr>
          <p:cNvGraphicFramePr>
            <a:graphicFrameLocks noGrp="1"/>
          </p:cNvGraphicFramePr>
          <p:nvPr>
            <p:extLst>
              <p:ext uri="{D42A27DB-BD31-4B8C-83A1-F6EECF244321}">
                <p14:modId xmlns:p14="http://schemas.microsoft.com/office/powerpoint/2010/main" val="3173935840"/>
              </p:ext>
            </p:extLst>
          </p:nvPr>
        </p:nvGraphicFramePr>
        <p:xfrm>
          <a:off x="479376" y="2708920"/>
          <a:ext cx="11233248" cy="3364491"/>
        </p:xfrm>
        <a:graphic>
          <a:graphicData uri="http://schemas.openxmlformats.org/drawingml/2006/table">
            <a:tbl>
              <a:tblPr firstRow="1" bandRow="1">
                <a:tableStyleId>{5C22544A-7EE6-4342-B048-85BDC9FD1C3A}</a:tableStyleId>
              </a:tblPr>
              <a:tblGrid>
                <a:gridCol w="4573537">
                  <a:extLst>
                    <a:ext uri="{9D8B030D-6E8A-4147-A177-3AD203B41FA5}">
                      <a16:colId xmlns:a16="http://schemas.microsoft.com/office/drawing/2014/main" val="2797354740"/>
                    </a:ext>
                  </a:extLst>
                </a:gridCol>
                <a:gridCol w="6659711">
                  <a:extLst>
                    <a:ext uri="{9D8B030D-6E8A-4147-A177-3AD203B41FA5}">
                      <a16:colId xmlns:a16="http://schemas.microsoft.com/office/drawing/2014/main" val="3840558042"/>
                    </a:ext>
                  </a:extLst>
                </a:gridCol>
              </a:tblGrid>
              <a:tr h="370840">
                <a:tc>
                  <a:txBody>
                    <a:bodyPr/>
                    <a:lstStyle/>
                    <a:p>
                      <a:pPr marL="0" lvl="0" indent="0" algn="l" rtl="0">
                        <a:spcBef>
                          <a:spcPts val="0"/>
                        </a:spcBef>
                        <a:spcAft>
                          <a:spcPts val="0"/>
                        </a:spcAft>
                        <a:buNone/>
                      </a:pPr>
                      <a:r>
                        <a:rPr lang="en" sz="2000" kern="1200" dirty="0">
                          <a:solidFill>
                            <a:schemeClr val="tx1"/>
                          </a:solidFill>
                          <a:latin typeface="+mn-lt"/>
                          <a:ea typeface="+mn-ea"/>
                          <a:cs typeface="+mn-cs"/>
                          <a:sym typeface="Open Sans"/>
                        </a:rPr>
                        <a:t>What is the user trying to do?</a:t>
                      </a:r>
                      <a:endParaRPr sz="2000" kern="1200" dirty="0">
                        <a:solidFill>
                          <a:schemeClr val="tx1"/>
                        </a:solidFill>
                        <a:latin typeface="+mn-lt"/>
                        <a:ea typeface="+mn-ea"/>
                        <a:cs typeface="+mn-cs"/>
                        <a:sym typeface="Open Sans"/>
                      </a:endParaRPr>
                    </a:p>
                  </a:txBody>
                  <a:tcPr marL="91425" marR="91425" marT="91425" marB="91425"/>
                </a:tc>
                <a:tc>
                  <a:txBody>
                    <a:bodyPr/>
                    <a:lstStyle/>
                    <a:p>
                      <a:pPr marL="0" lvl="0" indent="0" algn="l" rtl="0">
                        <a:spcBef>
                          <a:spcPts val="0"/>
                        </a:spcBef>
                        <a:spcAft>
                          <a:spcPts val="0"/>
                        </a:spcAft>
                        <a:buNone/>
                      </a:pPr>
                      <a:r>
                        <a:rPr lang="en" sz="2000" kern="1200" dirty="0">
                          <a:solidFill>
                            <a:schemeClr val="tx1"/>
                          </a:solidFill>
                          <a:latin typeface="+mn-lt"/>
                          <a:ea typeface="+mn-ea"/>
                          <a:cs typeface="+mn-cs"/>
                          <a:sym typeface="Open Sans"/>
                        </a:rPr>
                        <a:t>What are the biggest problems with the current approach?</a:t>
                      </a:r>
                      <a:endParaRPr sz="2000" kern="1200" dirty="0">
                        <a:solidFill>
                          <a:schemeClr val="tx1"/>
                        </a:solidFill>
                        <a:latin typeface="+mn-lt"/>
                        <a:ea typeface="+mn-ea"/>
                        <a:cs typeface="+mn-cs"/>
                        <a:sym typeface="Open Sans"/>
                      </a:endParaRPr>
                    </a:p>
                  </a:txBody>
                  <a:tcPr marL="91425" marR="91425" marT="91425" marB="91425"/>
                </a:tc>
                <a:extLst>
                  <a:ext uri="{0D108BD9-81ED-4DB2-BD59-A6C34878D82A}">
                    <a16:rowId xmlns:a16="http://schemas.microsoft.com/office/drawing/2014/main" val="1680565945"/>
                  </a:ext>
                </a:extLst>
              </a:tr>
              <a:tr h="370840">
                <a:tc>
                  <a:txBody>
                    <a:bodyPr/>
                    <a:lstStyle/>
                    <a:p>
                      <a:pPr>
                        <a:buNone/>
                      </a:pPr>
                      <a:r>
                        <a:rPr lang="en-GB" sz="2000" kern="1200" dirty="0">
                          <a:solidFill>
                            <a:schemeClr val="tx1"/>
                          </a:solidFill>
                          <a:latin typeface="+mn-lt"/>
                          <a:ea typeface="+mn-ea"/>
                          <a:cs typeface="+mn-cs"/>
                          <a:sym typeface="Open Sans Light"/>
                        </a:rPr>
                        <a:t>Daily essential petty transaction.</a:t>
                      </a:r>
                    </a:p>
                  </a:txBody>
                  <a:tcPr anchor="ctr"/>
                </a:tc>
                <a:tc>
                  <a:txBody>
                    <a:bodyPr/>
                    <a:lstStyle/>
                    <a:p>
                      <a:pPr>
                        <a:buNone/>
                      </a:pPr>
                      <a:r>
                        <a:rPr lang="en-GB" sz="2000" kern="1200" dirty="0">
                          <a:solidFill>
                            <a:schemeClr val="tx1"/>
                          </a:solidFill>
                          <a:latin typeface="+mn-lt"/>
                          <a:ea typeface="+mn-ea"/>
                          <a:cs typeface="+mn-cs"/>
                          <a:sym typeface="Open Sans Light"/>
                        </a:rPr>
                        <a:t>Parents Availability and risk of carrying cash and rendering appropriate amount.</a:t>
                      </a:r>
                    </a:p>
                  </a:txBody>
                  <a:tcPr anchor="ctr"/>
                </a:tc>
                <a:extLst>
                  <a:ext uri="{0D108BD9-81ED-4DB2-BD59-A6C34878D82A}">
                    <a16:rowId xmlns:a16="http://schemas.microsoft.com/office/drawing/2014/main" val="1301687577"/>
                  </a:ext>
                </a:extLst>
              </a:tr>
              <a:tr h="370840">
                <a:tc>
                  <a:txBody>
                    <a:bodyPr/>
                    <a:lstStyle/>
                    <a:p>
                      <a:pPr marL="0" lvl="0" indent="0" algn="l" rtl="0">
                        <a:lnSpc>
                          <a:spcPct val="115000"/>
                        </a:lnSpc>
                        <a:spcBef>
                          <a:spcPts val="0"/>
                        </a:spcBef>
                        <a:spcAft>
                          <a:spcPts val="0"/>
                        </a:spcAft>
                        <a:buNone/>
                      </a:pPr>
                      <a:r>
                        <a:rPr lang="en-GB" sz="2000" kern="1200" dirty="0">
                          <a:solidFill>
                            <a:schemeClr val="tx1"/>
                          </a:solidFill>
                          <a:latin typeface="+mn-lt"/>
                          <a:ea typeface="+mn-ea"/>
                          <a:cs typeface="+mn-cs"/>
                          <a:sym typeface="Open Sans Light"/>
                        </a:rPr>
                        <a:t>Handling cash</a:t>
                      </a:r>
                      <a:endParaRPr sz="2000" kern="1200" dirty="0">
                        <a:solidFill>
                          <a:schemeClr val="tx1"/>
                        </a:solidFill>
                        <a:latin typeface="+mn-lt"/>
                        <a:ea typeface="+mn-ea"/>
                        <a:cs typeface="+mn-cs"/>
                        <a:sym typeface="Open Sans"/>
                      </a:endParaRPr>
                    </a:p>
                  </a:txBody>
                  <a:tcPr marL="91425" marR="91425" marT="91425" marB="91425"/>
                </a:tc>
                <a:tc>
                  <a:txBody>
                    <a:bodyPr/>
                    <a:lstStyle/>
                    <a:p>
                      <a:pPr marL="0" lvl="0" indent="0" algn="l" rtl="0">
                        <a:spcBef>
                          <a:spcPts val="0"/>
                        </a:spcBef>
                        <a:spcAft>
                          <a:spcPts val="0"/>
                        </a:spcAft>
                        <a:buNone/>
                      </a:pPr>
                      <a:r>
                        <a:rPr lang="en-GB" sz="2000" kern="1200" dirty="0">
                          <a:solidFill>
                            <a:schemeClr val="tx1"/>
                          </a:solidFill>
                          <a:latin typeface="+mn-lt"/>
                          <a:ea typeface="+mn-ea"/>
                          <a:cs typeface="+mn-cs"/>
                          <a:sym typeface="Open Sans Light"/>
                        </a:rPr>
                        <a:t>Risk of loosing or misusing. </a:t>
                      </a:r>
                      <a:endParaRPr sz="2000" kern="1200" dirty="0">
                        <a:solidFill>
                          <a:schemeClr val="tx1"/>
                        </a:solidFill>
                        <a:latin typeface="+mn-lt"/>
                        <a:ea typeface="+mn-ea"/>
                        <a:cs typeface="+mn-cs"/>
                        <a:sym typeface="Open Sans Light"/>
                      </a:endParaRPr>
                    </a:p>
                  </a:txBody>
                  <a:tcPr marL="91425" marR="91425" marT="91425" marB="91425"/>
                </a:tc>
                <a:extLst>
                  <a:ext uri="{0D108BD9-81ED-4DB2-BD59-A6C34878D82A}">
                    <a16:rowId xmlns:a16="http://schemas.microsoft.com/office/drawing/2014/main" val="1732454013"/>
                  </a:ext>
                </a:extLst>
              </a:tr>
              <a:tr h="370840">
                <a:tc>
                  <a:txBody>
                    <a:bodyPr/>
                    <a:lstStyle/>
                    <a:p>
                      <a:pPr marL="0" lvl="0" indent="0" algn="l" defTabSz="914400" rtl="0" eaLnBrk="1" latinLnBrk="0" hangingPunct="1">
                        <a:lnSpc>
                          <a:spcPct val="115000"/>
                        </a:lnSpc>
                        <a:spcBef>
                          <a:spcPts val="0"/>
                        </a:spcBef>
                        <a:spcAft>
                          <a:spcPts val="0"/>
                        </a:spcAft>
                        <a:buNone/>
                      </a:pPr>
                      <a:r>
                        <a:rPr lang="en-GB" sz="2000" kern="1200" dirty="0">
                          <a:solidFill>
                            <a:schemeClr val="tx1"/>
                          </a:solidFill>
                          <a:latin typeface="+mn-lt"/>
                          <a:ea typeface="+mn-ea"/>
                          <a:cs typeface="+mn-cs"/>
                          <a:sym typeface="Open Sans Light"/>
                        </a:rPr>
                        <a:t>Tracking the spends</a:t>
                      </a:r>
                      <a:endParaRPr sz="2000" kern="1200" dirty="0">
                        <a:solidFill>
                          <a:schemeClr val="tx1"/>
                        </a:solidFill>
                        <a:latin typeface="+mn-lt"/>
                        <a:ea typeface="+mn-ea"/>
                        <a:cs typeface="+mn-cs"/>
                        <a:sym typeface="Open Sans"/>
                      </a:endParaRPr>
                    </a:p>
                  </a:txBody>
                  <a:tcPr marL="91425" marR="91425" marT="91425" marB="91425"/>
                </a:tc>
                <a:tc>
                  <a:txBody>
                    <a:bodyPr/>
                    <a:lstStyle/>
                    <a:p>
                      <a:pPr marL="0" lvl="0" indent="0" algn="l" defTabSz="914400" rtl="0" eaLnBrk="1" latinLnBrk="0" hangingPunct="1">
                        <a:lnSpc>
                          <a:spcPct val="115000"/>
                        </a:lnSpc>
                        <a:spcBef>
                          <a:spcPts val="0"/>
                        </a:spcBef>
                        <a:spcAft>
                          <a:spcPts val="0"/>
                        </a:spcAft>
                        <a:buNone/>
                      </a:pPr>
                      <a:r>
                        <a:rPr lang="en-GB" sz="2000" kern="1200" dirty="0">
                          <a:solidFill>
                            <a:schemeClr val="tx1"/>
                          </a:solidFill>
                          <a:latin typeface="+mn-lt"/>
                          <a:ea typeface="+mn-ea"/>
                          <a:cs typeface="+mn-cs"/>
                          <a:sym typeface="Open Sans Light"/>
                        </a:rPr>
                        <a:t>Difficult for the teens as well the parents to track and monitor.</a:t>
                      </a:r>
                      <a:endParaRPr sz="2000" kern="1200" dirty="0">
                        <a:solidFill>
                          <a:schemeClr val="tx1"/>
                        </a:solidFill>
                        <a:latin typeface="+mn-lt"/>
                        <a:ea typeface="+mn-ea"/>
                        <a:cs typeface="+mn-cs"/>
                        <a:sym typeface="Open Sans"/>
                      </a:endParaRPr>
                    </a:p>
                  </a:txBody>
                  <a:tcPr marL="91425" marR="91425" marT="91425" marB="91425"/>
                </a:tc>
                <a:extLst>
                  <a:ext uri="{0D108BD9-81ED-4DB2-BD59-A6C34878D82A}">
                    <a16:rowId xmlns:a16="http://schemas.microsoft.com/office/drawing/2014/main" val="3029714350"/>
                  </a:ext>
                </a:extLst>
              </a:tr>
              <a:tr h="370840">
                <a:tc>
                  <a:txBody>
                    <a:bodyPr/>
                    <a:lstStyle/>
                    <a:p>
                      <a:pPr marL="0" marR="0" lvl="0" indent="0" algn="l" rtl="0">
                        <a:lnSpc>
                          <a:spcPct val="115000"/>
                        </a:lnSpc>
                        <a:spcBef>
                          <a:spcPts val="0"/>
                        </a:spcBef>
                        <a:spcAft>
                          <a:spcPts val="0"/>
                        </a:spcAft>
                        <a:buClr>
                          <a:srgbClr val="000000"/>
                        </a:buClr>
                        <a:buFont typeface="Arial"/>
                        <a:buNone/>
                      </a:pPr>
                      <a:r>
                        <a:rPr lang="en-IN" sz="2000" kern="1200" dirty="0">
                          <a:solidFill>
                            <a:schemeClr val="tx1"/>
                          </a:solidFill>
                          <a:latin typeface="+mn-lt"/>
                          <a:ea typeface="+mn-ea"/>
                          <a:cs typeface="+mn-cs"/>
                          <a:sym typeface="Arial"/>
                        </a:rPr>
                        <a:t>Financial literacy.</a:t>
                      </a:r>
                      <a:endParaRPr sz="2000" kern="1200" dirty="0">
                        <a:solidFill>
                          <a:schemeClr val="tx1"/>
                        </a:solidFill>
                        <a:latin typeface="+mn-lt"/>
                        <a:ea typeface="+mn-ea"/>
                        <a:cs typeface="+mn-cs"/>
                        <a:sym typeface="Open Sans"/>
                      </a:endParaRPr>
                    </a:p>
                  </a:txBody>
                  <a:tcPr marL="91425" marR="91425" marT="91425" marB="91425"/>
                </a:tc>
                <a:tc>
                  <a:txBody>
                    <a:bodyPr/>
                    <a:lstStyle/>
                    <a:p>
                      <a:pPr marL="0" marR="0" lvl="0" indent="0" algn="l" rtl="0">
                        <a:lnSpc>
                          <a:spcPct val="115000"/>
                        </a:lnSpc>
                        <a:spcBef>
                          <a:spcPts val="0"/>
                        </a:spcBef>
                        <a:spcAft>
                          <a:spcPts val="0"/>
                        </a:spcAft>
                        <a:buClr>
                          <a:srgbClr val="000000"/>
                        </a:buClr>
                        <a:buFont typeface="Arial"/>
                        <a:buNone/>
                      </a:pPr>
                      <a:r>
                        <a:rPr lang="en-IN" sz="2000" kern="1200" dirty="0">
                          <a:solidFill>
                            <a:schemeClr val="tx1"/>
                          </a:solidFill>
                          <a:latin typeface="+mn-lt"/>
                          <a:ea typeface="+mn-ea"/>
                          <a:cs typeface="+mn-cs"/>
                          <a:sym typeface="Open Sans"/>
                        </a:rPr>
                        <a:t>No holistic approach and friendly guidance. </a:t>
                      </a:r>
                      <a:endParaRPr sz="2000" kern="1200" dirty="0">
                        <a:solidFill>
                          <a:schemeClr val="tx1"/>
                        </a:solidFill>
                        <a:latin typeface="+mn-lt"/>
                        <a:ea typeface="+mn-ea"/>
                        <a:cs typeface="+mn-cs"/>
                        <a:sym typeface="Open Sans"/>
                      </a:endParaRPr>
                    </a:p>
                  </a:txBody>
                  <a:tcPr marL="91425" marR="91425" marT="91425" marB="91425"/>
                </a:tc>
                <a:extLst>
                  <a:ext uri="{0D108BD9-81ED-4DB2-BD59-A6C34878D82A}">
                    <a16:rowId xmlns:a16="http://schemas.microsoft.com/office/drawing/2014/main" val="872315800"/>
                  </a:ext>
                </a:extLst>
              </a:tr>
            </a:tbl>
          </a:graphicData>
        </a:graphic>
      </p:graphicFrame>
      <p:sp>
        <p:nvSpPr>
          <p:cNvPr id="11" name="TextBox 10"/>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12" name="TextBox 11"/>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769272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B244-00C9-0468-E1F1-51EE7B7EE326}"/>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MVP Epic 1 - </a:t>
            </a:r>
            <a:r>
              <a:rPr lang="en-IN" dirty="0" sz="1800">
                <a:solidFill>
                  <a:srgbClr val="000000"/>
                </a:solidFill>
                <a:latin typeface="Calibri"/>
              </a:rPr>
              <a:t>RBI Guidelines &amp; Compliance</a:t>
            </a:r>
          </a:p>
        </p:txBody>
      </p:sp>
      <p:sp>
        <p:nvSpPr>
          <p:cNvPr id="3" name="Content Placeholder 2">
            <a:extLst>
              <a:ext uri="{FF2B5EF4-FFF2-40B4-BE49-F238E27FC236}">
                <a16:creationId xmlns:a16="http://schemas.microsoft.com/office/drawing/2014/main" id="{28C4115C-C98B-D2A2-C86B-D134A970DE96}"/>
              </a:ext>
            </a:extLst>
          </p:cNvPr>
          <p:cNvSpPr>
            <a:spLocks noGrp="1"/>
          </p:cNvSpPr>
          <p:nvPr>
            <p:ph idx="1"/>
          </p:nvPr>
        </p:nvSpPr>
        <p:spPr/>
        <p:txBody>
          <a:bodyPr>
            <a:normAutofit fontScale="77500" lnSpcReduction="20000"/>
          </a:bodyPr>
          <a:lstStyle/>
          <a:p>
            <a:pPr lvl="0" algn="l"/>
            <a:r>
              <a:rPr lang="en-GB" sz="1800" dirty="0" err="1">
                <a:solidFill>
                  <a:srgbClr val="000000"/>
                </a:solidFill>
                <a:latin typeface="Calibri"/>
              </a:rPr>
              <a:t>Usecase</a:t>
            </a:r>
            <a:r>
              <a:rPr lang="en-GB" sz="1800" dirty="0">
                <a:solidFill>
                  <a:srgbClr val="000000"/>
                </a:solidFill>
                <a:latin typeface="Calibri"/>
              </a:rPr>
              <a:t> 1-1 – Full-KYC PPIs only can enable UPI payments</a:t>
            </a:r>
          </a:p>
          <a:p>
            <a:pPr lvl="1" algn="l"/>
            <a:r>
              <a:rPr lang="en-GB" dirty="0" sz="1800">
                <a:solidFill>
                  <a:srgbClr val="000000"/>
                </a:solidFill>
                <a:latin typeface="Calibri"/>
              </a:rPr>
              <a:t>Full-KYC PPIs only can enable UPI payments. - RBI mandates UPI only for Full-KYC wallets to prevent fraud and ensure identity verification.</a:t>
            </a:r>
          </a:p>
          <a:p>
            <a:pPr lvl="1" algn="l"/>
            <a:r>
              <a:rPr lang="en-GB" dirty="0" sz="1800">
                <a:solidFill>
                  <a:srgbClr val="000000"/>
                </a:solidFill>
                <a:latin typeface="Calibri"/>
              </a:rPr>
              <a:t>A 16-year-old user wants to pay for a book using UPI through </a:t>
            </a:r>
            <a:r>
              <a:rPr lang="en-GB" dirty="0" err="1" sz="1800">
                <a:solidFill>
                  <a:srgbClr val="000000"/>
                </a:solidFill>
                <a:latin typeface="Calibri"/>
              </a:rPr>
              <a:t>Gpay</a:t>
            </a:r>
            <a:r>
              <a:rPr lang="en-GB" dirty="0" sz="1800">
                <a:solidFill>
                  <a:srgbClr val="000000"/>
                </a:solidFill>
                <a:latin typeface="Calibri"/>
              </a:rPr>
              <a:t> Junior</a:t>
            </a:r>
          </a:p>
          <a:p>
            <a:pPr lvl="1" algn="l"/>
            <a:r>
              <a:rPr lang="en-GB" dirty="0" sz="1800">
                <a:solidFill>
                  <a:srgbClr val="000000"/>
                </a:solidFill>
                <a:latin typeface="Calibri"/>
              </a:rPr>
              <a:t>The teen’s wallet must be </a:t>
            </a:r>
            <a:r>
              <a:rPr lang="en-GB" b="1" dirty="0" sz="1800">
                <a:solidFill>
                  <a:srgbClr val="000000"/>
                </a:solidFill>
                <a:latin typeface="Calibri"/>
              </a:rPr>
              <a:t>Full-KYC verified</a:t>
            </a:r>
            <a:r>
              <a:rPr lang="en-GB" dirty="0" sz="1800">
                <a:solidFill>
                  <a:srgbClr val="000000"/>
                </a:solidFill>
                <a:latin typeface="Calibri"/>
              </a:rPr>
              <a:t> (Aadhaar + Parent’s/Guardian's  PAN).</a:t>
            </a:r>
          </a:p>
          <a:p>
            <a:pPr lvl="1" algn="l"/>
            <a:r>
              <a:rPr lang="en-IN" dirty="0" sz="1800">
                <a:solidFill>
                  <a:srgbClr val="000000"/>
                </a:solidFill>
                <a:latin typeface="Calibri"/>
              </a:rPr>
              <a:t>User initiates UPI payment. </a:t>
            </a:r>
            <a:r>
              <a:rPr lang="en-IN" dirty="0" sz="1800">
                <a:solidFill>
                  <a:srgbClr val="000000"/>
                </a:solidFill>
                <a:latin typeface="Calibri"/>
                <a:sym typeface="Wingdings" panose="05000000000000000000" pitchFamily="2" charset="2"/>
              </a:rPr>
              <a:t> </a:t>
            </a:r>
            <a:r>
              <a:rPr lang="en-IN" dirty="0" sz="1800">
                <a:solidFill>
                  <a:srgbClr val="000000"/>
                </a:solidFill>
                <a:latin typeface="Calibri"/>
              </a:rPr>
              <a:t>System checks KYC status. </a:t>
            </a:r>
            <a:r>
              <a:rPr lang="en-IN" dirty="0" sz="1800">
                <a:solidFill>
                  <a:srgbClr val="000000"/>
                </a:solidFill>
                <a:latin typeface="Calibri"/>
                <a:sym typeface="Wingdings" panose="05000000000000000000" pitchFamily="2" charset="2"/>
              </a:rPr>
              <a:t> </a:t>
            </a:r>
            <a:r>
              <a:rPr lang="en-GB" dirty="0" sz="1800">
                <a:solidFill>
                  <a:srgbClr val="000000"/>
                </a:solidFill>
                <a:latin typeface="Calibri"/>
              </a:rPr>
              <a:t>If Full-KYC → allow payment; else → show message: “Complete KYC to use UPI.”</a:t>
            </a:r>
          </a:p>
          <a:p>
            <a:pPr algn="l"/>
            <a:r>
              <a:rPr lang="en-GB" sz="1800" dirty="0" err="1">
                <a:solidFill>
                  <a:srgbClr val="000000"/>
                </a:solidFill>
                <a:latin typeface="Calibri"/>
              </a:rPr>
              <a:t>Usecase</a:t>
            </a:r>
            <a:r>
              <a:rPr lang="en-GB" sz="1800" dirty="0">
                <a:solidFill>
                  <a:srgbClr val="000000"/>
                </a:solidFill>
                <a:latin typeface="Calibri"/>
              </a:rPr>
              <a:t> 1-2 – No co-branded UPI arrangements</a:t>
            </a:r>
          </a:p>
          <a:p>
            <a:pPr lvl="1" algn="l"/>
            <a:r>
              <a:rPr lang="en-GB" dirty="0" sz="1800">
                <a:solidFill>
                  <a:srgbClr val="000000"/>
                </a:solidFill>
                <a:latin typeface="Calibri"/>
              </a:rPr>
              <a:t>No co-branded UPI arrangements; issuer must onboard its own customers</a:t>
            </a:r>
          </a:p>
          <a:p>
            <a:pPr lvl="1" algn="l"/>
            <a:r>
              <a:rPr lang="en-GB" dirty="0" sz="1800">
                <a:solidFill>
                  <a:srgbClr val="000000"/>
                </a:solidFill>
                <a:latin typeface="Calibri"/>
              </a:rPr>
              <a:t>The app creates its own UPI handle </a:t>
            </a:r>
            <a:r>
              <a:rPr lang="en-GB" dirty="0" err="1" sz="1800">
                <a:solidFill>
                  <a:srgbClr val="000000"/>
                </a:solidFill>
                <a:latin typeface="Calibri"/>
              </a:rPr>
              <a:t>eg</a:t>
            </a:r>
            <a:r>
              <a:rPr lang="en-GB" dirty="0" sz="1800">
                <a:solidFill>
                  <a:srgbClr val="000000"/>
                </a:solidFill>
                <a:latin typeface="Calibri"/>
              </a:rPr>
              <a:t> - @gjunior</a:t>
            </a:r>
          </a:p>
          <a:p>
            <a:pPr lvl="1" algn="l"/>
            <a:r>
              <a:rPr lang="en-GB" dirty="0" sz="1800">
                <a:solidFill>
                  <a:srgbClr val="000000"/>
                </a:solidFill>
                <a:latin typeface="Calibri"/>
              </a:rPr>
              <a:t>Users register under </a:t>
            </a:r>
            <a:r>
              <a:rPr lang="en-GB" dirty="0" err="1" sz="1800">
                <a:solidFill>
                  <a:srgbClr val="000000"/>
                </a:solidFill>
                <a:latin typeface="Calibri"/>
              </a:rPr>
              <a:t>gpay</a:t>
            </a:r>
            <a:r>
              <a:rPr lang="en-GB" dirty="0" sz="1800">
                <a:solidFill>
                  <a:srgbClr val="000000"/>
                </a:solidFill>
                <a:latin typeface="Calibri"/>
              </a:rPr>
              <a:t> system, not via a third-party bank</a:t>
            </a:r>
          </a:p>
          <a:p>
            <a:pPr algn="l"/>
            <a:r>
              <a:rPr lang="en-GB" sz="1800" dirty="0" err="1">
                <a:solidFill>
                  <a:srgbClr val="000000"/>
                </a:solidFill>
                <a:latin typeface="Calibri"/>
              </a:rPr>
              <a:t>Usecase</a:t>
            </a:r>
            <a:r>
              <a:rPr lang="en-GB" sz="1800" dirty="0">
                <a:solidFill>
                  <a:srgbClr val="000000"/>
                </a:solidFill>
                <a:latin typeface="Calibri"/>
              </a:rPr>
              <a:t> 1-3 – Prepaid wallets for minors must have parental control and spending limits</a:t>
            </a:r>
          </a:p>
          <a:p>
            <a:pPr lvl="1" algn="l"/>
            <a:r>
              <a:rPr lang="en-GB" dirty="0" sz="1800">
                <a:solidFill>
                  <a:srgbClr val="000000"/>
                </a:solidFill>
                <a:latin typeface="Calibri"/>
              </a:rPr>
              <a:t>Protects minors from overspending and ensures parental oversight.</a:t>
            </a:r>
          </a:p>
          <a:p>
            <a:pPr lvl="1" algn="l"/>
            <a:r>
              <a:rPr lang="en-GB" dirty="0" sz="1800">
                <a:solidFill>
                  <a:srgbClr val="000000"/>
                </a:solidFill>
                <a:latin typeface="Calibri"/>
              </a:rPr>
              <a:t>Parent sets a </a:t>
            </a:r>
            <a:r>
              <a:rPr lang="en-GB" b="1" dirty="0" sz="1800">
                <a:solidFill>
                  <a:srgbClr val="000000"/>
                </a:solidFill>
                <a:latin typeface="Calibri"/>
              </a:rPr>
              <a:t>daily limit of ₹500</a:t>
            </a:r>
            <a:r>
              <a:rPr lang="en-GB" dirty="0" sz="1800">
                <a:solidFill>
                  <a:srgbClr val="000000"/>
                </a:solidFill>
                <a:latin typeface="Calibri"/>
              </a:rPr>
              <a:t>.</a:t>
            </a:r>
          </a:p>
          <a:p>
            <a:pPr lvl="1" algn="l"/>
            <a:r>
              <a:rPr lang="en-GB" dirty="0" sz="1800">
                <a:solidFill>
                  <a:srgbClr val="000000"/>
                </a:solidFill>
                <a:latin typeface="Calibri"/>
              </a:rPr>
              <a:t>User tries to pay ₹2,000 </a:t>
            </a:r>
            <a:r>
              <a:rPr lang="en-GB" dirty="0" sz="1800">
                <a:solidFill>
                  <a:srgbClr val="000000"/>
                </a:solidFill>
                <a:latin typeface="Calibri"/>
                <a:sym typeface="Wingdings" panose="05000000000000000000" pitchFamily="2" charset="2"/>
              </a:rPr>
              <a:t> S</a:t>
            </a:r>
            <a:r>
              <a:rPr lang="en-GB" dirty="0" sz="1800">
                <a:solidFill>
                  <a:srgbClr val="000000"/>
                </a:solidFill>
                <a:latin typeface="Calibri"/>
              </a:rPr>
              <a:t>ystem blocks transaction and notifies parent.</a:t>
            </a: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401986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7729-E678-80B8-0471-00041B7F980A}"/>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MVP Epic 1 - </a:t>
            </a:r>
            <a:r>
              <a:rPr lang="en-IN" dirty="0" sz="1800">
                <a:solidFill>
                  <a:srgbClr val="000000"/>
                </a:solidFill>
                <a:latin typeface="Calibri"/>
              </a:rPr>
              <a:t>RBI Guidelines &amp; Compliance</a:t>
            </a:r>
          </a:p>
        </p:txBody>
      </p:sp>
      <p:sp>
        <p:nvSpPr>
          <p:cNvPr id="3" name="Content Placeholder 2">
            <a:extLst>
              <a:ext uri="{FF2B5EF4-FFF2-40B4-BE49-F238E27FC236}">
                <a16:creationId xmlns:a16="http://schemas.microsoft.com/office/drawing/2014/main" id="{5F7E6C17-B020-7582-B28C-E892E351A134}"/>
              </a:ext>
            </a:extLst>
          </p:cNvPr>
          <p:cNvSpPr>
            <a:spLocks noGrp="1"/>
          </p:cNvSpPr>
          <p:nvPr>
            <p:ph idx="1"/>
          </p:nvPr>
        </p:nvSpPr>
        <p:spPr/>
        <p:txBody>
          <a:bodyPr/>
          <a:lstStyle/>
          <a:p>
            <a:pPr lvl="0" algn="l"/>
            <a:r>
              <a:rPr lang="en-GB" sz="1800" dirty="0" err="1">
                <a:solidFill>
                  <a:srgbClr val="000000"/>
                </a:solidFill>
                <a:latin typeface="Calibri"/>
              </a:rPr>
              <a:t>Usecase</a:t>
            </a:r>
            <a:r>
              <a:rPr lang="en-GB" sz="1800" dirty="0">
                <a:solidFill>
                  <a:srgbClr val="000000"/>
                </a:solidFill>
                <a:latin typeface="Calibri"/>
              </a:rPr>
              <a:t> 1-4 – Cash withdrawal not allowed for minors</a:t>
            </a:r>
          </a:p>
          <a:p>
            <a:pPr lvl="1" algn="l"/>
            <a:r>
              <a:rPr lang="en-GB" dirty="0" sz="1800">
                <a:solidFill>
                  <a:srgbClr val="000000"/>
                </a:solidFill>
                <a:latin typeface="Calibri"/>
              </a:rPr>
              <a:t>Prevents misuse and keeps transactions digital-only.</a:t>
            </a:r>
          </a:p>
          <a:p>
            <a:pPr lvl="1" algn="l"/>
            <a:r>
              <a:rPr lang="en-GB" dirty="0" sz="1800">
                <a:solidFill>
                  <a:srgbClr val="000000"/>
                </a:solidFill>
                <a:latin typeface="Calibri"/>
              </a:rPr>
              <a:t>Transaction request detected as withdrawal from a junior account, System blocks and shows: “Cash withdrawal not permitted for minors.”</a:t>
            </a:r>
          </a:p>
          <a:p>
            <a:pPr algn="l"/>
            <a:endParaRPr lang="en-GB" sz="2400" dirty="0"/>
          </a:p>
          <a:p>
            <a:pPr algn="l"/>
            <a:r>
              <a:rPr lang="en-GB" sz="1800" dirty="0" err="1">
                <a:solidFill>
                  <a:srgbClr val="000000"/>
                </a:solidFill>
                <a:latin typeface="Calibri"/>
              </a:rPr>
              <a:t>Usecase</a:t>
            </a:r>
            <a:r>
              <a:rPr lang="en-GB" sz="1800" dirty="0">
                <a:solidFill>
                  <a:srgbClr val="000000"/>
                </a:solidFill>
                <a:latin typeface="Calibri"/>
              </a:rPr>
              <a:t> 1-5 – Transaction authentication must use wallet credentials</a:t>
            </a:r>
          </a:p>
          <a:p>
            <a:pPr lvl="1" algn="l"/>
            <a:r>
              <a:rPr lang="en-GB" dirty="0" sz="1800">
                <a:solidFill>
                  <a:srgbClr val="000000"/>
                </a:solidFill>
                <a:latin typeface="Calibri"/>
              </a:rPr>
              <a:t>RBI requires wallet-level authentication for security.</a:t>
            </a:r>
          </a:p>
          <a:p>
            <a:pPr lvl="1" algn="l"/>
            <a:r>
              <a:rPr lang="en-GB" dirty="0" sz="1800">
                <a:solidFill>
                  <a:srgbClr val="000000"/>
                </a:solidFill>
                <a:latin typeface="Calibri"/>
              </a:rPr>
              <a:t>Teen initiates a UPI payment of ₹100, System prompts for PIN or biometric.</a:t>
            </a:r>
          </a:p>
          <a:p>
            <a:pPr lvl="1" algn="l"/>
            <a:r>
              <a:rPr lang="en-GB" dirty="0" sz="1800">
                <a:solidFill>
                  <a:srgbClr val="000000"/>
                </a:solidFill>
                <a:latin typeface="Calibri"/>
              </a:rPr>
              <a:t>No external bank PIN allowed.</a:t>
            </a: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429523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F1B49-E2F2-49B3-1E30-540DF958D132}"/>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MVP Epic 2 – </a:t>
            </a:r>
            <a:r>
              <a:rPr lang="en-IN" dirty="0" sz="1800">
                <a:solidFill>
                  <a:srgbClr val="000000"/>
                </a:solidFill>
                <a:latin typeface="Calibri"/>
              </a:rPr>
              <a:t>Basic Features – (Must haves)</a:t>
            </a:r>
          </a:p>
        </p:txBody>
      </p:sp>
      <p:sp>
        <p:nvSpPr>
          <p:cNvPr id="3" name="Content Placeholder 2">
            <a:extLst>
              <a:ext uri="{FF2B5EF4-FFF2-40B4-BE49-F238E27FC236}">
                <a16:creationId xmlns:a16="http://schemas.microsoft.com/office/drawing/2014/main" id="{3367500B-4B96-30EC-B053-AF366B1DFCA8}"/>
              </a:ext>
            </a:extLst>
          </p:cNvPr>
          <p:cNvSpPr>
            <a:spLocks noGrp="1"/>
          </p:cNvSpPr>
          <p:nvPr>
            <p:ph idx="1"/>
          </p:nvPr>
        </p:nvSpPr>
        <p:spPr/>
        <p:txBody>
          <a:bodyPr>
            <a:normAutofit fontScale="85000" lnSpcReduction="20000"/>
          </a:bodyPr>
          <a:lstStyle/>
          <a:p>
            <a:pPr lvl="0" algn="l"/>
            <a:r>
              <a:rPr lang="en-GB" sz="1800" dirty="0" err="1">
                <a:solidFill>
                  <a:srgbClr val="000000"/>
                </a:solidFill>
                <a:latin typeface="Calibri"/>
              </a:rPr>
              <a:t>Usecase</a:t>
            </a:r>
            <a:r>
              <a:rPr lang="en-GB" sz="1800" dirty="0">
                <a:solidFill>
                  <a:srgbClr val="000000"/>
                </a:solidFill>
                <a:latin typeface="Calibri"/>
              </a:rPr>
              <a:t> 2-1 – Scan &amp; Pay, personalized UPI ID.</a:t>
            </a:r>
          </a:p>
          <a:p>
            <a:pPr lvl="1" algn="l"/>
            <a:r>
              <a:rPr lang="en-GB" dirty="0" sz="1800">
                <a:solidFill>
                  <a:srgbClr val="000000"/>
                </a:solidFill>
                <a:latin typeface="Calibri"/>
              </a:rPr>
              <a:t>Wallet has sufficient balance and UPI ID is active.</a:t>
            </a:r>
          </a:p>
          <a:p>
            <a:pPr lvl="1" algn="l"/>
            <a:r>
              <a:rPr lang="en-GB" dirty="0" sz="1800">
                <a:solidFill>
                  <a:srgbClr val="000000"/>
                </a:solidFill>
                <a:latin typeface="Calibri"/>
              </a:rPr>
              <a:t>User opens app → selects “Scan &amp; Pay.” </a:t>
            </a:r>
            <a:r>
              <a:rPr lang="en-GB" dirty="0" sz="1800">
                <a:solidFill>
                  <a:srgbClr val="000000"/>
                </a:solidFill>
                <a:latin typeface="Calibri"/>
                <a:sym typeface="Wingdings" panose="05000000000000000000" pitchFamily="2" charset="2"/>
              </a:rPr>
              <a:t> </a:t>
            </a:r>
            <a:r>
              <a:rPr lang="en-GB" dirty="0" sz="1800">
                <a:solidFill>
                  <a:srgbClr val="000000"/>
                </a:solidFill>
                <a:latin typeface="Calibri"/>
              </a:rPr>
              <a:t> </a:t>
            </a:r>
            <a:r>
              <a:rPr lang="en-IN" dirty="0" sz="1800">
                <a:solidFill>
                  <a:srgbClr val="000000"/>
                </a:solidFill>
                <a:latin typeface="Calibri"/>
              </a:rPr>
              <a:t>Scans merchant QR code. </a:t>
            </a:r>
            <a:r>
              <a:rPr lang="en-IN" dirty="0" sz="1800">
                <a:solidFill>
                  <a:srgbClr val="000000"/>
                </a:solidFill>
                <a:latin typeface="Calibri"/>
                <a:sym typeface="Wingdings" panose="05000000000000000000" pitchFamily="2" charset="2"/>
              </a:rPr>
              <a:t> </a:t>
            </a:r>
            <a:r>
              <a:rPr lang="en-GB" dirty="0" sz="1800">
                <a:solidFill>
                  <a:srgbClr val="000000"/>
                </a:solidFill>
                <a:latin typeface="Calibri"/>
              </a:rPr>
              <a:t>Enters amount → authenticates with PIN/biometric. </a:t>
            </a:r>
            <a:r>
              <a:rPr lang="en-GB" dirty="0" sz="1800">
                <a:solidFill>
                  <a:srgbClr val="000000"/>
                </a:solidFill>
                <a:latin typeface="Calibri"/>
                <a:sym typeface="Wingdings" panose="05000000000000000000" pitchFamily="2" charset="2"/>
              </a:rPr>
              <a:t> </a:t>
            </a:r>
            <a:r>
              <a:rPr lang="en-IN" dirty="0" sz="1800">
                <a:solidFill>
                  <a:srgbClr val="000000"/>
                </a:solidFill>
                <a:latin typeface="Calibri"/>
              </a:rPr>
              <a:t>Payment completes → confirmation shown.</a:t>
            </a:r>
            <a:endParaRPr lang="en-GB" dirty="0"/>
          </a:p>
          <a:p>
            <a:pPr lvl="1" algn="l"/>
            <a:r>
              <a:rPr lang="en-IN" dirty="0" sz="1800">
                <a:solidFill>
                  <a:srgbClr val="000000"/>
                </a:solidFill>
                <a:latin typeface="Calibri"/>
              </a:rPr>
              <a:t>Wallet balance updated.</a:t>
            </a:r>
            <a:endParaRPr lang="en-GB" dirty="0"/>
          </a:p>
          <a:p>
            <a:pPr algn="l"/>
            <a:r>
              <a:rPr lang="en-GB" sz="1800" dirty="0" err="1">
                <a:solidFill>
                  <a:srgbClr val="000000"/>
                </a:solidFill>
                <a:latin typeface="Calibri"/>
              </a:rPr>
              <a:t>Usecase</a:t>
            </a:r>
            <a:r>
              <a:rPr lang="en-GB" sz="1800" dirty="0">
                <a:solidFill>
                  <a:srgbClr val="000000"/>
                </a:solidFill>
                <a:latin typeface="Calibri"/>
              </a:rPr>
              <a:t> 2-2 – Dashboard for Parental Controls</a:t>
            </a:r>
          </a:p>
          <a:p>
            <a:pPr lvl="1" algn="l"/>
            <a:r>
              <a:rPr lang="en-IN" dirty="0" sz="1800">
                <a:solidFill>
                  <a:srgbClr val="000000"/>
                </a:solidFill>
                <a:latin typeface="Calibri"/>
              </a:rPr>
              <a:t>Parent configures limit in app. </a:t>
            </a:r>
            <a:r>
              <a:rPr lang="en-IN" dirty="0" sz="1800">
                <a:solidFill>
                  <a:srgbClr val="000000"/>
                </a:solidFill>
                <a:latin typeface="Calibri"/>
                <a:sym typeface="Wingdings" panose="05000000000000000000" pitchFamily="2" charset="2"/>
              </a:rPr>
              <a:t> </a:t>
            </a:r>
            <a:r>
              <a:rPr lang="en-GB" dirty="0" sz="1800">
                <a:solidFill>
                  <a:srgbClr val="000000"/>
                </a:solidFill>
                <a:latin typeface="Calibri"/>
              </a:rPr>
              <a:t>Teen tries to spend ₹700 → system blocks transaction. </a:t>
            </a:r>
            <a:r>
              <a:rPr lang="en-GB" dirty="0" sz="1800">
                <a:solidFill>
                  <a:srgbClr val="000000"/>
                </a:solidFill>
                <a:latin typeface="Calibri"/>
                <a:sym typeface="Wingdings" panose="05000000000000000000" pitchFamily="2" charset="2"/>
              </a:rPr>
              <a:t> </a:t>
            </a:r>
            <a:r>
              <a:rPr lang="en-GB" dirty="0" sz="1800">
                <a:solidFill>
                  <a:srgbClr val="000000"/>
                </a:solidFill>
                <a:latin typeface="Calibri"/>
              </a:rPr>
              <a:t>Parent gets instant notification of attempt.</a:t>
            </a:r>
          </a:p>
          <a:p>
            <a:pPr lvl="1" algn="l"/>
            <a:r>
              <a:rPr lang="en-GB" dirty="0" sz="1800">
                <a:solidFill>
                  <a:srgbClr val="000000"/>
                </a:solidFill>
                <a:latin typeface="Calibri"/>
              </a:rPr>
              <a:t>Controlled spending, parental oversight maintained.</a:t>
            </a:r>
          </a:p>
          <a:p>
            <a:pPr lvl="1" algn="l"/>
            <a:r>
              <a:rPr lang="en-IN" dirty="0" sz="1800">
                <a:solidFill>
                  <a:srgbClr val="000000"/>
                </a:solidFill>
                <a:latin typeface="Calibri"/>
              </a:rPr>
              <a:t>View Spending Summary</a:t>
            </a:r>
            <a:endParaRPr lang="en-GB" dirty="0"/>
          </a:p>
          <a:p>
            <a:pPr lvl="1" algn="l"/>
            <a:r>
              <a:rPr lang="en-GB" dirty="0" sz="1800">
                <a:solidFill>
                  <a:srgbClr val="000000"/>
                </a:solidFill>
                <a:latin typeface="Calibri"/>
              </a:rPr>
              <a:t>View  Issue/Resolution</a:t>
            </a:r>
          </a:p>
          <a:p>
            <a:pPr algn="l"/>
            <a:r>
              <a:rPr lang="en-GB" sz="1800" dirty="0" err="1">
                <a:solidFill>
                  <a:srgbClr val="000000"/>
                </a:solidFill>
                <a:latin typeface="Calibri"/>
              </a:rPr>
              <a:t>Usecase</a:t>
            </a:r>
            <a:r>
              <a:rPr lang="en-GB" sz="1800" dirty="0">
                <a:solidFill>
                  <a:srgbClr val="000000"/>
                </a:solidFill>
                <a:latin typeface="Calibri"/>
              </a:rPr>
              <a:t> 2-3 – Security – PIN, Fingerprint, Face Unlock, Instant account Block</a:t>
            </a:r>
          </a:p>
          <a:p>
            <a:pPr lvl="1" algn="l"/>
            <a:r>
              <a:rPr lang="en-IN" dirty="0" sz="1800">
                <a:solidFill>
                  <a:srgbClr val="000000"/>
                </a:solidFill>
                <a:latin typeface="Calibri"/>
              </a:rPr>
              <a:t>Teen loses phone or system encounters multiple wrong pins, account blocked instantly to avoid misuse.</a:t>
            </a:r>
            <a:endParaRPr lang="en-GB" dirty="0"/>
          </a:p>
          <a:p>
            <a:pPr lvl="1" algn="l"/>
            <a:r>
              <a:rPr lang="en-GB" dirty="0" sz="1800">
                <a:solidFill>
                  <a:srgbClr val="000000"/>
                </a:solidFill>
                <a:latin typeface="Calibri"/>
              </a:rPr>
              <a:t>Parents can enable the access with help of multi factor authentication.</a:t>
            </a: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3182259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0788-EF59-D40A-3BBE-37156A298B4A}"/>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MVP Epic 2 – </a:t>
            </a:r>
            <a:r>
              <a:rPr lang="en-IN" dirty="0" sz="1800">
                <a:solidFill>
                  <a:srgbClr val="000000"/>
                </a:solidFill>
                <a:latin typeface="Calibri"/>
              </a:rPr>
              <a:t>Basic Features – </a:t>
            </a:r>
            <a:r>
              <a:rPr lang="en-IN" sz="1800" dirty="0">
                <a:solidFill>
                  <a:srgbClr val="000000"/>
                </a:solidFill>
                <a:latin typeface="Calibri"/>
              </a:rPr>
              <a:t>(Must haves) </a:t>
            </a:r>
            <a:r>
              <a:rPr lang="en-IN" sz="1800" dirty="0" err="1">
                <a:solidFill>
                  <a:srgbClr val="000000"/>
                </a:solidFill>
                <a:latin typeface="Calibri"/>
              </a:rPr>
              <a:t>Contd</a:t>
            </a:r>
            <a:endParaRPr lang="en-IN" dirty="0"/>
          </a:p>
        </p:txBody>
      </p:sp>
      <p:sp>
        <p:nvSpPr>
          <p:cNvPr id="3" name="Content Placeholder 2">
            <a:extLst>
              <a:ext uri="{FF2B5EF4-FFF2-40B4-BE49-F238E27FC236}">
                <a16:creationId xmlns:a16="http://schemas.microsoft.com/office/drawing/2014/main" id="{46499FCA-9DC0-ABD6-4630-09E0251A38B9}"/>
              </a:ext>
            </a:extLst>
          </p:cNvPr>
          <p:cNvSpPr>
            <a:spLocks noGrp="1"/>
          </p:cNvSpPr>
          <p:nvPr>
            <p:ph idx="1"/>
          </p:nvPr>
        </p:nvSpPr>
        <p:spPr/>
        <p:txBody>
          <a:bodyPr/>
          <a:lstStyle/>
          <a:p>
            <a:pPr algn="l"/>
            <a:r>
              <a:rPr lang="en-GB" sz="1800" dirty="0" err="1">
                <a:solidFill>
                  <a:srgbClr val="000000"/>
                </a:solidFill>
                <a:latin typeface="Calibri"/>
              </a:rPr>
              <a:t>Usecase</a:t>
            </a:r>
            <a:r>
              <a:rPr lang="en-GB" sz="1800" dirty="0">
                <a:solidFill>
                  <a:srgbClr val="000000"/>
                </a:solidFill>
                <a:latin typeface="Calibri"/>
              </a:rPr>
              <a:t> 2-4 – Restrict payments – Strictly no bypass.</a:t>
            </a:r>
          </a:p>
          <a:p>
            <a:pPr lvl="1" algn="l"/>
            <a:r>
              <a:rPr lang="en-GB" dirty="0" sz="1800">
                <a:solidFill>
                  <a:srgbClr val="000000"/>
                </a:solidFill>
                <a:latin typeface="Calibri"/>
              </a:rPr>
              <a:t>Payments allowed only to authorized businesses.</a:t>
            </a:r>
          </a:p>
          <a:p>
            <a:pPr lvl="1" algn="l"/>
            <a:r>
              <a:rPr lang="en-GB" dirty="0" sz="1800">
                <a:solidFill>
                  <a:srgbClr val="000000"/>
                </a:solidFill>
                <a:latin typeface="Calibri"/>
              </a:rPr>
              <a:t>Payments to individuals are blocked.</a:t>
            </a:r>
          </a:p>
          <a:p>
            <a:pPr lvl="1" algn="l"/>
            <a:r>
              <a:rPr lang="en-GB" dirty="0" sz="1800">
                <a:solidFill>
                  <a:srgbClr val="000000"/>
                </a:solidFill>
                <a:latin typeface="Calibri"/>
              </a:rPr>
              <a:t>Block gaming, betting, gambling merchants.</a:t>
            </a:r>
          </a:p>
          <a:p>
            <a:pPr marL="495300" lvl="1" indent="0" algn="l">
              <a:buNone/>
            </a:pPr>
            <a:endParaRPr lang="en-GB" dirty="0"/>
          </a:p>
          <a:p>
            <a:pPr lvl="0" algn="l"/>
            <a:r>
              <a:rPr lang="en-GB" sz="1800" dirty="0" err="1">
                <a:solidFill>
                  <a:srgbClr val="000000"/>
                </a:solidFill>
                <a:latin typeface="Calibri"/>
              </a:rPr>
              <a:t>Usecase</a:t>
            </a:r>
            <a:r>
              <a:rPr lang="en-GB" sz="1800" dirty="0">
                <a:solidFill>
                  <a:srgbClr val="000000"/>
                </a:solidFill>
                <a:latin typeface="Calibri"/>
              </a:rPr>
              <a:t> 2-5 – </a:t>
            </a:r>
            <a:r>
              <a:rPr lang="en-IN" sz="1800" dirty="0">
                <a:solidFill>
                  <a:srgbClr val="000000"/>
                </a:solidFill>
                <a:latin typeface="Calibri"/>
              </a:rPr>
              <a:t>24x7 Support </a:t>
            </a:r>
            <a:r>
              <a:rPr lang="en-GB" sz="1800" dirty="0">
                <a:solidFill>
                  <a:srgbClr val="000000"/>
                </a:solidFill>
                <a:latin typeface="Calibri"/>
              </a:rPr>
              <a:t>.</a:t>
            </a:r>
          </a:p>
          <a:p>
            <a:pPr lvl="1" algn="l"/>
            <a:r>
              <a:rPr lang="en-GB" dirty="0" sz="1800">
                <a:solidFill>
                  <a:srgbClr val="000000"/>
                </a:solidFill>
                <a:latin typeface="Calibri"/>
              </a:rPr>
              <a:t>User encounters an issue , User navigates to “Help &amp; Support.”</a:t>
            </a:r>
          </a:p>
          <a:p>
            <a:pPr lvl="1" algn="l"/>
            <a:r>
              <a:rPr lang="en-GB" dirty="0" sz="1800">
                <a:solidFill>
                  <a:srgbClr val="000000"/>
                </a:solidFill>
                <a:latin typeface="Calibri"/>
              </a:rPr>
              <a:t>Parents gets notified about the issue.</a:t>
            </a:r>
          </a:p>
          <a:p>
            <a:pPr lvl="1" algn="l"/>
            <a:r>
              <a:rPr lang="en-GB" dirty="0" sz="1800">
                <a:solidFill>
                  <a:srgbClr val="000000"/>
                </a:solidFill>
                <a:latin typeface="Calibri"/>
              </a:rPr>
              <a:t>If issue persists, communication happens with linked parents account towards resolution.</a:t>
            </a:r>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174266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ABEC-382C-FD70-71C7-B51AD7869D6F}"/>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MVP Epic 3 – Nice to haves</a:t>
            </a:r>
            <a:endParaRPr lang="en-IN" dirty="0"/>
          </a:p>
        </p:txBody>
      </p:sp>
      <p:sp>
        <p:nvSpPr>
          <p:cNvPr id="3" name="Content Placeholder 2">
            <a:extLst>
              <a:ext uri="{FF2B5EF4-FFF2-40B4-BE49-F238E27FC236}">
                <a16:creationId xmlns:a16="http://schemas.microsoft.com/office/drawing/2014/main" id="{DE38C8E0-CCD7-571A-C1D8-D713890BA70A}"/>
              </a:ext>
            </a:extLst>
          </p:cNvPr>
          <p:cNvSpPr>
            <a:spLocks noGrp="1"/>
          </p:cNvSpPr>
          <p:nvPr>
            <p:ph idx="1"/>
          </p:nvPr>
        </p:nvSpPr>
        <p:spPr/>
        <p:txBody>
          <a:bodyPr>
            <a:normAutofit fontScale="92500" lnSpcReduction="20000"/>
          </a:bodyPr>
          <a:lstStyle/>
          <a:p>
            <a:pPr algn="l"/>
            <a:r>
              <a:rPr lang="en-GB" sz="1800" dirty="0" err="1">
                <a:solidFill>
                  <a:srgbClr val="000000"/>
                </a:solidFill>
                <a:latin typeface="Calibri"/>
              </a:rPr>
              <a:t>Usecase</a:t>
            </a:r>
            <a:r>
              <a:rPr lang="en-GB" sz="1800" dirty="0">
                <a:solidFill>
                  <a:srgbClr val="000000"/>
                </a:solidFill>
                <a:latin typeface="Calibri"/>
              </a:rPr>
              <a:t> 3-1 – Financial Literacy - </a:t>
            </a:r>
            <a:r>
              <a:rPr lang="en-IN" sz="1800" dirty="0">
                <a:solidFill>
                  <a:srgbClr val="000000"/>
                </a:solidFill>
                <a:latin typeface="Calibri"/>
              </a:rPr>
              <a:t>“Learn &amp; Earn” section</a:t>
            </a:r>
            <a:endParaRPr lang="en-GB" sz="2400" dirty="0"/>
          </a:p>
          <a:p>
            <a:pPr lvl="1" algn="l"/>
            <a:r>
              <a:rPr lang="en-GB" dirty="0" sz="1800">
                <a:solidFill>
                  <a:srgbClr val="000000"/>
                </a:solidFill>
                <a:latin typeface="Calibri"/>
              </a:rPr>
              <a:t>Basics of UPI and digital payments , How to budget and save,,</a:t>
            </a:r>
            <a:r>
              <a:rPr lang="en-IN" dirty="0" sz="1800">
                <a:solidFill>
                  <a:srgbClr val="000000"/>
                </a:solidFill>
                <a:latin typeface="Calibri"/>
              </a:rPr>
              <a:t> Understanding RBI rules for minors, Avoiding fraud and scams</a:t>
            </a:r>
          </a:p>
          <a:p>
            <a:pPr lvl="1" algn="l"/>
            <a:r>
              <a:rPr lang="en-GB" dirty="0" sz="1800">
                <a:solidFill>
                  <a:srgbClr val="000000"/>
                </a:solidFill>
                <a:latin typeface="Calibri"/>
              </a:rPr>
              <a:t>Short videos, quizzes, and scenario-based questions.</a:t>
            </a:r>
          </a:p>
          <a:p>
            <a:pPr lvl="1" algn="l"/>
            <a:r>
              <a:rPr lang="en-GB" dirty="0" sz="1800">
                <a:solidFill>
                  <a:srgbClr val="000000"/>
                </a:solidFill>
                <a:latin typeface="Calibri"/>
              </a:rPr>
              <a:t>Parent can view teen’s progress in the parental dashboard and app encourages Parents to add money to parent-Approved Term Deposit via Partner Bank</a:t>
            </a:r>
          </a:p>
          <a:p>
            <a:pPr marL="495300" lvl="1" indent="0" algn="l">
              <a:buNone/>
            </a:pPr>
            <a:endParaRPr lang="en-GB" dirty="0"/>
          </a:p>
          <a:p>
            <a:pPr lvl="0" algn="l"/>
            <a:r>
              <a:rPr lang="en-GB" sz="1800" dirty="0" err="1">
                <a:solidFill>
                  <a:srgbClr val="000000"/>
                </a:solidFill>
                <a:latin typeface="Calibri"/>
              </a:rPr>
              <a:t>Usecase</a:t>
            </a:r>
            <a:r>
              <a:rPr lang="en-GB" sz="1800" dirty="0">
                <a:solidFill>
                  <a:srgbClr val="000000"/>
                </a:solidFill>
                <a:latin typeface="Calibri"/>
              </a:rPr>
              <a:t> 3-2 – Saving buckets.</a:t>
            </a:r>
          </a:p>
          <a:p>
            <a:pPr lvl="1" algn="l"/>
            <a:r>
              <a:rPr lang="en-GB" dirty="0" sz="1800">
                <a:solidFill>
                  <a:srgbClr val="000000"/>
                </a:solidFill>
                <a:latin typeface="Calibri"/>
              </a:rPr>
              <a:t>Convert Wallet Balance into a Savings Goal bucket with upper limit of Rs. 1000</a:t>
            </a:r>
          </a:p>
          <a:p>
            <a:pPr lvl="1" algn="l"/>
            <a:r>
              <a:rPr lang="en-GB" dirty="0" sz="1800">
                <a:solidFill>
                  <a:srgbClr val="000000"/>
                </a:solidFill>
                <a:latin typeface="Calibri"/>
              </a:rPr>
              <a:t>No interest on wallet balance (only banks can offer interest).</a:t>
            </a:r>
          </a:p>
          <a:p>
            <a:pPr lvl="1" algn="l"/>
            <a:r>
              <a:rPr lang="en-GB" dirty="0" sz="1800">
                <a:solidFill>
                  <a:srgbClr val="000000"/>
                </a:solidFill>
                <a:latin typeface="Calibri"/>
              </a:rPr>
              <a:t>No overdraft or negative balance.</a:t>
            </a:r>
          </a:p>
          <a:p>
            <a:pPr lvl="1" algn="l"/>
            <a:r>
              <a:rPr lang="en-GB" dirty="0" sz="1800">
                <a:solidFill>
                  <a:srgbClr val="000000"/>
                </a:solidFill>
                <a:latin typeface="Calibri"/>
              </a:rPr>
              <a:t>Funds remain in credit balance and cannot be withdrawn as cash</a:t>
            </a:r>
          </a:p>
          <a:p>
            <a:pPr lvl="1" algn="l"/>
            <a:r>
              <a:rPr lang="en-GB" dirty="0" sz="1800">
                <a:solidFill>
                  <a:srgbClr val="000000"/>
                </a:solidFill>
                <a:latin typeface="Calibri"/>
              </a:rPr>
              <a:t>Parents move leftover wallet balance into a minor’s deposit account.</a:t>
            </a:r>
          </a:p>
          <a:p>
            <a:pPr algn="l"/>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359831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EDAE-C45F-0600-DA37-CC3DBBC323E8}"/>
              </a:ext>
            </a:extLst>
          </p:cNvPr>
          <p:cNvSpPr>
            <a:spLocks noGrp="1"/>
          </p:cNvSpPr>
          <p:nvPr>
            <p:ph type="title"/>
          </p:nvPr>
        </p:nvSpPr>
        <p:spPr/>
        <p:txBody>
          <a:bodyPr/>
          <a:lstStyle/>
          <a:p>
            <a:pPr algn="l"/>
            <a:r>
              <a:rPr lang="en-IN" dirty="0" sz="1800">
                <a:solidFill>
                  <a:srgbClr val="000000"/>
                </a:solidFill>
                <a:latin typeface="Calibri"/>
              </a:rPr>
              <a:t>Pain points the MVP addressing  for the user’s</a:t>
            </a:r>
          </a:p>
        </p:txBody>
      </p:sp>
      <p:sp>
        <p:nvSpPr>
          <p:cNvPr id="3" name="Content Placeholder 2">
            <a:extLst>
              <a:ext uri="{FF2B5EF4-FFF2-40B4-BE49-F238E27FC236}">
                <a16:creationId xmlns:a16="http://schemas.microsoft.com/office/drawing/2014/main" id="{4FE34B83-B4D8-9D0A-3885-2ACD504F6C21}"/>
              </a:ext>
            </a:extLst>
          </p:cNvPr>
          <p:cNvSpPr>
            <a:spLocks noGrp="1"/>
          </p:cNvSpPr>
          <p:nvPr>
            <p:ph idx="1"/>
          </p:nvPr>
        </p:nvSpPr>
        <p:spPr/>
        <p:txBody>
          <a:bodyPr/>
          <a:lstStyle/>
          <a:p>
            <a:pPr algn="l"/>
            <a:r>
              <a:rPr lang="en-GB" dirty="0" sz="1800">
                <a:solidFill>
                  <a:srgbClr val="000000"/>
                </a:solidFill>
                <a:latin typeface="Calibri"/>
              </a:rPr>
              <a:t>Parents worry about overspending or spending on risky categories (gaming, betting).</a:t>
            </a:r>
          </a:p>
          <a:p>
            <a:pPr algn="l"/>
            <a:r>
              <a:rPr lang="en-GB" dirty="0" sz="1800">
                <a:solidFill>
                  <a:srgbClr val="000000"/>
                </a:solidFill>
                <a:latin typeface="Calibri"/>
              </a:rPr>
              <a:t>Teens are vulnerable to scams, phishing, and unauthorized transactions.</a:t>
            </a:r>
          </a:p>
          <a:p>
            <a:pPr algn="l"/>
            <a:r>
              <a:rPr lang="en-GB" dirty="0" sz="1800">
                <a:solidFill>
                  <a:srgbClr val="000000"/>
                </a:solidFill>
                <a:latin typeface="Calibri"/>
              </a:rPr>
              <a:t>Existing apps may not fully comply with RBI rules for minors.</a:t>
            </a:r>
          </a:p>
          <a:p>
            <a:pPr algn="l"/>
            <a:r>
              <a:rPr lang="en-GB" dirty="0" sz="1800">
                <a:solidFill>
                  <a:srgbClr val="000000"/>
                </a:solidFill>
                <a:latin typeface="Calibri"/>
              </a:rPr>
              <a:t>Teens often lack budgeting and saving habits.</a:t>
            </a:r>
          </a:p>
          <a:p>
            <a:pPr algn="l"/>
            <a:r>
              <a:rPr lang="en-GB" dirty="0" sz="1800">
                <a:solidFill>
                  <a:srgbClr val="000000"/>
                </a:solidFill>
                <a:latin typeface="Calibri"/>
              </a:rPr>
              <a:t>Parents find it hard to track spending and transfer funds easily.</a:t>
            </a:r>
          </a:p>
          <a:p>
            <a:pPr algn="l"/>
            <a:r>
              <a:rPr lang="en-GB" dirty="0" sz="1800">
                <a:solidFill>
                  <a:srgbClr val="000000"/>
                </a:solidFill>
                <a:latin typeface="Calibri"/>
              </a:rPr>
              <a:t>Teens lose interest in traditional banking apps.</a:t>
            </a:r>
          </a:p>
          <a:p>
            <a:pPr algn="l"/>
            <a:r>
              <a:rPr lang="en-GB" dirty="0" sz="1800">
                <a:solidFill>
                  <a:srgbClr val="000000"/>
                </a:solidFill>
                <a:latin typeface="Calibri"/>
              </a:rPr>
              <a:t>Encouraging the habit of goal-oriented savings. </a:t>
            </a:r>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563569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6337B-B25F-FC3B-44D4-DC8F6AA33352}"/>
              </a:ext>
            </a:extLst>
          </p:cNvPr>
          <p:cNvSpPr>
            <a:spLocks noGrp="1"/>
          </p:cNvSpPr>
          <p:nvPr>
            <p:ph type="title"/>
          </p:nvPr>
        </p:nvSpPr>
        <p:spPr/>
        <p:txBody>
          <a:bodyPr/>
          <a:lstStyle/>
          <a:p>
            <a:pPr algn="l"/>
            <a:r>
              <a:rPr lang="en-IN" dirty="0" sz="1800">
                <a:solidFill>
                  <a:srgbClr val="000000"/>
                </a:solidFill>
                <a:latin typeface="Calibri"/>
              </a:rPr>
              <a:t>Risks</a:t>
            </a:r>
          </a:p>
        </p:txBody>
      </p:sp>
      <p:graphicFrame>
        <p:nvGraphicFramePr>
          <p:cNvPr id="4" name="Content Placeholder 3">
            <a:extLst>
              <a:ext uri="{FF2B5EF4-FFF2-40B4-BE49-F238E27FC236}">
                <a16:creationId xmlns:a16="http://schemas.microsoft.com/office/drawing/2014/main" id="{20E05F6D-773B-4253-7FBA-D45F1A14F62D}"/>
              </a:ext>
            </a:extLst>
          </p:cNvPr>
          <p:cNvGraphicFramePr>
            <a:graphicFrameLocks noGrp="1"/>
          </p:cNvGraphicFramePr>
          <p:nvPr>
            <p:ph idx="1"/>
            <p:extLst>
              <p:ext uri="{D42A27DB-BD31-4B8C-83A1-F6EECF244321}">
                <p14:modId xmlns:p14="http://schemas.microsoft.com/office/powerpoint/2010/main" val="2441707451"/>
              </p:ext>
            </p:extLst>
          </p:nvPr>
        </p:nvGraphicFramePr>
        <p:xfrm>
          <a:off x="335360" y="1333336"/>
          <a:ext cx="11593288" cy="4759960"/>
        </p:xfrm>
        <a:graphic>
          <a:graphicData uri="http://schemas.openxmlformats.org/drawingml/2006/table">
            <a:tbl>
              <a:tblPr firstRow="1" bandRow="1">
                <a:tableStyleId>{5C22544A-7EE6-4342-B048-85BDC9FD1C3A}</a:tableStyleId>
              </a:tblPr>
              <a:tblGrid>
                <a:gridCol w="5112568">
                  <a:extLst>
                    <a:ext uri="{9D8B030D-6E8A-4147-A177-3AD203B41FA5}">
                      <a16:colId xmlns:a16="http://schemas.microsoft.com/office/drawing/2014/main" val="1231141587"/>
                    </a:ext>
                  </a:extLst>
                </a:gridCol>
                <a:gridCol w="6480720">
                  <a:extLst>
                    <a:ext uri="{9D8B030D-6E8A-4147-A177-3AD203B41FA5}">
                      <a16:colId xmlns:a16="http://schemas.microsoft.com/office/drawing/2014/main" val="1152060847"/>
                    </a:ext>
                  </a:extLst>
                </a:gridCol>
              </a:tblGrid>
              <a:tr h="370840">
                <a:tc>
                  <a:txBody>
                    <a:bodyPr/>
                    <a:lstStyle/>
                    <a:p>
                      <a:pPr algn="ctr"/>
                      <a:r>
                        <a:rPr lang="en-IN" dirty="0"/>
                        <a:t>Risk</a:t>
                      </a:r>
                    </a:p>
                  </a:txBody>
                  <a:tcPr/>
                </a:tc>
                <a:tc>
                  <a:txBody>
                    <a:bodyPr/>
                    <a:lstStyle/>
                    <a:p>
                      <a:pPr algn="ctr"/>
                      <a:r>
                        <a:rPr lang="en-IN" dirty="0"/>
                        <a:t>Mitigation</a:t>
                      </a:r>
                    </a:p>
                  </a:txBody>
                  <a:tcPr/>
                </a:tc>
                <a:extLst>
                  <a:ext uri="{0D108BD9-81ED-4DB2-BD59-A6C34878D82A}">
                    <a16:rowId xmlns:a16="http://schemas.microsoft.com/office/drawing/2014/main" val="3664353224"/>
                  </a:ext>
                </a:extLst>
              </a:tr>
              <a:tr h="370840">
                <a:tc>
                  <a:txBody>
                    <a:bodyPr/>
                    <a:lstStyle/>
                    <a:p>
                      <a:r>
                        <a:rPr lang="en-GB" dirty="0"/>
                        <a:t>Failure to adhere to RBI guidelines (KYC, spending limits, parental controls) could lead to penalties or app suspension.</a:t>
                      </a:r>
                      <a:endParaRPr lang="en-IN" dirty="0"/>
                    </a:p>
                  </a:txBody>
                  <a:tcPr/>
                </a:tc>
                <a:tc>
                  <a:txBody>
                    <a:bodyPr/>
                    <a:lstStyle/>
                    <a:p>
                      <a:r>
                        <a:rPr lang="en-GB" dirty="0"/>
                        <a:t>Regular </a:t>
                      </a:r>
                      <a:r>
                        <a:rPr lang="en-GB" b="1" dirty="0"/>
                        <a:t>audit and update</a:t>
                      </a:r>
                      <a:r>
                        <a:rPr lang="en-GB" dirty="0"/>
                        <a:t> based on RBI circulars. Implement </a:t>
                      </a:r>
                      <a:r>
                        <a:rPr lang="en-GB" b="1" dirty="0"/>
                        <a:t>automated compliance checks</a:t>
                      </a:r>
                      <a:r>
                        <a:rPr lang="en-GB" dirty="0"/>
                        <a:t> for every transaction and feature.</a:t>
                      </a:r>
                      <a:endParaRPr lang="en-IN" dirty="0"/>
                    </a:p>
                  </a:txBody>
                  <a:tcPr/>
                </a:tc>
                <a:extLst>
                  <a:ext uri="{0D108BD9-81ED-4DB2-BD59-A6C34878D82A}">
                    <a16:rowId xmlns:a16="http://schemas.microsoft.com/office/drawing/2014/main" val="2121053968"/>
                  </a:ext>
                </a:extLst>
              </a:tr>
              <a:tr h="370840">
                <a:tc>
                  <a:txBody>
                    <a:bodyPr/>
                    <a:lstStyle/>
                    <a:p>
                      <a:r>
                        <a:rPr lang="en-GB" dirty="0"/>
                        <a:t>Teens may fall victim to phishing, scams, or unauthorized wallet/card use.</a:t>
                      </a:r>
                      <a:endParaRPr lang="en-IN" dirty="0"/>
                    </a:p>
                  </a:txBody>
                  <a:tcPr/>
                </a:tc>
                <a:tc>
                  <a:txBody>
                    <a:bodyPr/>
                    <a:lstStyle/>
                    <a:p>
                      <a:r>
                        <a:rPr lang="en-GB" b="1" dirty="0"/>
                        <a:t>AI-based fraud detection</a:t>
                      </a:r>
                      <a:r>
                        <a:rPr lang="en-GB" dirty="0"/>
                        <a:t> for unusual patterns.</a:t>
                      </a:r>
                    </a:p>
                    <a:p>
                      <a:r>
                        <a:rPr lang="en-GB" dirty="0"/>
                        <a:t>Mandatory </a:t>
                      </a:r>
                      <a:r>
                        <a:rPr lang="en-GB" b="1" dirty="0"/>
                        <a:t>PIN/biometric authentication</a:t>
                      </a:r>
                      <a:r>
                        <a:rPr lang="en-GB" dirty="0"/>
                        <a:t> for all transactions.</a:t>
                      </a:r>
                      <a:endParaRPr lang="en-IN" dirty="0"/>
                    </a:p>
                  </a:txBody>
                  <a:tcPr/>
                </a:tc>
                <a:extLst>
                  <a:ext uri="{0D108BD9-81ED-4DB2-BD59-A6C34878D82A}">
                    <a16:rowId xmlns:a16="http://schemas.microsoft.com/office/drawing/2014/main" val="453774921"/>
                  </a:ext>
                </a:extLst>
              </a:tr>
              <a:tr h="370840">
                <a:tc>
                  <a:txBody>
                    <a:bodyPr/>
                    <a:lstStyle/>
                    <a:p>
                      <a:r>
                        <a:rPr lang="en-GB" dirty="0"/>
                        <a:t>Sensitive teen and parent data could be exposed.</a:t>
                      </a:r>
                      <a:endParaRPr lang="en-IN" dirty="0"/>
                    </a:p>
                  </a:txBody>
                  <a:tcPr/>
                </a:tc>
                <a:tc>
                  <a:txBody>
                    <a:bodyPr/>
                    <a:lstStyle/>
                    <a:p>
                      <a:r>
                        <a:rPr lang="en-IN" dirty="0"/>
                        <a:t>End-to-end encryption , </a:t>
                      </a:r>
                      <a:r>
                        <a:rPr lang="en-GB" dirty="0"/>
                        <a:t>Regular </a:t>
                      </a:r>
                      <a:r>
                        <a:rPr lang="en-GB" b="1" dirty="0"/>
                        <a:t>penetration testing</a:t>
                      </a:r>
                      <a:r>
                        <a:rPr lang="en-GB" dirty="0"/>
                        <a:t> and security audits.</a:t>
                      </a:r>
                      <a:endParaRPr lang="en-IN" dirty="0"/>
                    </a:p>
                  </a:txBody>
                  <a:tcPr/>
                </a:tc>
                <a:extLst>
                  <a:ext uri="{0D108BD9-81ED-4DB2-BD59-A6C34878D82A}">
                    <a16:rowId xmlns:a16="http://schemas.microsoft.com/office/drawing/2014/main" val="121159884"/>
                  </a:ext>
                </a:extLst>
              </a:tr>
              <a:tr h="370840">
                <a:tc>
                  <a:txBody>
                    <a:bodyPr/>
                    <a:lstStyle/>
                    <a:p>
                      <a:r>
                        <a:rPr lang="en-GB" dirty="0"/>
                        <a:t>Payment failures during peak hours → loss of trust.</a:t>
                      </a:r>
                      <a:endParaRPr lang="en-IN" dirty="0"/>
                    </a:p>
                  </a:txBody>
                  <a:tcPr/>
                </a:tc>
                <a:tc>
                  <a:txBody>
                    <a:bodyPr/>
                    <a:lstStyle/>
                    <a:p>
                      <a:r>
                        <a:rPr lang="en-IN" dirty="0"/>
                        <a:t>99.9% uptime SLA. </a:t>
                      </a:r>
                      <a:r>
                        <a:rPr lang="en-GB" dirty="0"/>
                        <a:t>24x7 </a:t>
                      </a:r>
                      <a:r>
                        <a:rPr lang="en-GB" b="1" dirty="0"/>
                        <a:t>support escalation</a:t>
                      </a:r>
                      <a:r>
                        <a:rPr lang="en-GB" dirty="0"/>
                        <a:t> for critical issues.</a:t>
                      </a:r>
                      <a:endParaRPr lang="en-IN" dirty="0"/>
                    </a:p>
                  </a:txBody>
                  <a:tcPr/>
                </a:tc>
                <a:extLst>
                  <a:ext uri="{0D108BD9-81ED-4DB2-BD59-A6C34878D82A}">
                    <a16:rowId xmlns:a16="http://schemas.microsoft.com/office/drawing/2014/main" val="3738000242"/>
                  </a:ext>
                </a:extLst>
              </a:tr>
              <a:tr h="370840">
                <a:tc>
                  <a:txBody>
                    <a:bodyPr/>
                    <a:lstStyle/>
                    <a:p>
                      <a:r>
                        <a:rPr lang="en-GB" dirty="0"/>
                        <a:t>AI may incorrectly flag transactions or give misleading financial advice.</a:t>
                      </a:r>
                      <a:endParaRPr lang="en-IN" dirty="0"/>
                    </a:p>
                  </a:txBody>
                  <a:tcPr/>
                </a:tc>
                <a:tc>
                  <a:txBody>
                    <a:bodyPr/>
                    <a:lstStyle/>
                    <a:p>
                      <a:r>
                        <a:rPr lang="en-GB" dirty="0"/>
                        <a:t>Continuous </a:t>
                      </a:r>
                      <a:r>
                        <a:rPr lang="en-GB" b="1" dirty="0"/>
                        <a:t>model monitoring and retraining</a:t>
                      </a:r>
                      <a:r>
                        <a:rPr lang="en-GB" dirty="0"/>
                        <a:t>. Human-in-the-loop for critical fraud decisions.</a:t>
                      </a:r>
                      <a:endParaRPr lang="en-IN" dirty="0"/>
                    </a:p>
                  </a:txBody>
                  <a:tcPr/>
                </a:tc>
                <a:extLst>
                  <a:ext uri="{0D108BD9-81ED-4DB2-BD59-A6C34878D82A}">
                    <a16:rowId xmlns:a16="http://schemas.microsoft.com/office/drawing/2014/main" val="3157367910"/>
                  </a:ext>
                </a:extLst>
              </a:tr>
              <a:tr h="370840">
                <a:tc>
                  <a:txBody>
                    <a:bodyPr/>
                    <a:lstStyle/>
                    <a:p>
                      <a:r>
                        <a:rPr lang="en-GB" dirty="0"/>
                        <a:t>Teens unaware of budgeting or safe payment practices → higher fraud risk.</a:t>
                      </a:r>
                      <a:endParaRPr lang="en-IN" dirty="0"/>
                    </a:p>
                  </a:txBody>
                  <a:tcPr/>
                </a:tc>
                <a:tc>
                  <a:txBody>
                    <a:bodyPr/>
                    <a:lstStyle/>
                    <a:p>
                      <a:r>
                        <a:rPr lang="en-GB" dirty="0"/>
                        <a:t>Mandatory learning goals before enabling advanced features.</a:t>
                      </a:r>
                      <a:endParaRPr lang="en-IN" dirty="0"/>
                    </a:p>
                  </a:txBody>
                  <a:tcPr/>
                </a:tc>
                <a:extLst>
                  <a:ext uri="{0D108BD9-81ED-4DB2-BD59-A6C34878D82A}">
                    <a16:rowId xmlns:a16="http://schemas.microsoft.com/office/drawing/2014/main" val="1180372986"/>
                  </a:ext>
                </a:extLst>
              </a:tr>
            </a:tbl>
          </a:graphicData>
        </a:graphic>
      </p:graphicFrame>
      <p:sp>
        <p:nvSpPr>
          <p:cNvPr id="5" name="TextBox 4"/>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6" name="TextBox 5"/>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182159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516C1-315D-7E34-A47C-64946E17DCFD}"/>
              </a:ext>
            </a:extLst>
          </p:cNvPr>
          <p:cNvSpPr>
            <a:spLocks noGrp="1"/>
          </p:cNvSpPr>
          <p:nvPr>
            <p:ph type="title"/>
          </p:nvPr>
        </p:nvSpPr>
        <p:spPr/>
        <p:txBody>
          <a:bodyPr/>
          <a:lstStyle/>
          <a:p>
            <a:pPr algn="l"/>
            <a:r>
              <a:rPr lang="en-IN" dirty="0" sz="1800">
                <a:solidFill>
                  <a:srgbClr val="000000"/>
                </a:solidFill>
                <a:latin typeface="Calibri"/>
              </a:rPr>
              <a:t>Primary - System Attributes</a:t>
            </a:r>
          </a:p>
        </p:txBody>
      </p:sp>
      <p:sp>
        <p:nvSpPr>
          <p:cNvPr id="3" name="Content Placeholder 2">
            <a:extLst>
              <a:ext uri="{FF2B5EF4-FFF2-40B4-BE49-F238E27FC236}">
                <a16:creationId xmlns:a16="http://schemas.microsoft.com/office/drawing/2014/main" id="{B4A8D443-B031-3593-B67F-697EAD1631E6}"/>
              </a:ext>
            </a:extLst>
          </p:cNvPr>
          <p:cNvSpPr>
            <a:spLocks noGrp="1"/>
          </p:cNvSpPr>
          <p:nvPr>
            <p:ph idx="1"/>
          </p:nvPr>
        </p:nvSpPr>
        <p:spPr>
          <a:xfrm>
            <a:off x="612647" y="1715532"/>
            <a:ext cx="11243993" cy="4593828"/>
          </a:xfrm>
        </p:spPr>
        <p:txBody>
          <a:bodyPr>
            <a:normAutofit/>
          </a:bodyPr>
          <a:lstStyle/>
          <a:p>
            <a:pPr algn="l"/>
            <a:r>
              <a:rPr lang="en-IN" b="1" dirty="0" sz="1800">
                <a:solidFill>
                  <a:srgbClr val="000000"/>
                </a:solidFill>
                <a:latin typeface="Calibri"/>
              </a:rPr>
              <a:t>Security</a:t>
            </a:r>
            <a:r>
              <a:rPr lang="en-IN" dirty="0" sz="1800">
                <a:solidFill>
                  <a:srgbClr val="000000"/>
                </a:solidFill>
                <a:latin typeface="Calibri"/>
              </a:rPr>
              <a:t> - End-to-end encryption , MFA, AI-driven fraud detection.</a:t>
            </a:r>
          </a:p>
          <a:p>
            <a:pPr algn="l"/>
            <a:r>
              <a:rPr lang="en-IN" b="1" dirty="0" sz="1800">
                <a:solidFill>
                  <a:srgbClr val="000000"/>
                </a:solidFill>
                <a:latin typeface="Calibri"/>
              </a:rPr>
              <a:t>Compliance – </a:t>
            </a:r>
            <a:r>
              <a:rPr lang="en-IN" dirty="0" sz="1800">
                <a:solidFill>
                  <a:srgbClr val="000000"/>
                </a:solidFill>
                <a:latin typeface="Calibri"/>
              </a:rPr>
              <a:t>100% with RBI guidelines.</a:t>
            </a:r>
          </a:p>
          <a:p>
            <a:pPr algn="l"/>
            <a:r>
              <a:rPr lang="en-IN" b="1" dirty="0" sz="1800">
                <a:solidFill>
                  <a:srgbClr val="000000"/>
                </a:solidFill>
                <a:latin typeface="Calibri"/>
              </a:rPr>
              <a:t>Parental Control - </a:t>
            </a:r>
            <a:r>
              <a:rPr lang="en-IN" dirty="0" sz="1800">
                <a:solidFill>
                  <a:srgbClr val="000000"/>
                </a:solidFill>
                <a:latin typeface="Calibri"/>
              </a:rPr>
              <a:t>Spending limits, Real-time notifications</a:t>
            </a:r>
          </a:p>
          <a:p>
            <a:pPr algn="l"/>
            <a:r>
              <a:rPr lang="en-IN" b="1" dirty="0" sz="1800">
                <a:solidFill>
                  <a:srgbClr val="000000"/>
                </a:solidFill>
                <a:latin typeface="Calibri"/>
              </a:rPr>
              <a:t>Teen-Friendly Experience</a:t>
            </a:r>
            <a:r>
              <a:rPr lang="en-IN" dirty="0" sz="1800">
                <a:solidFill>
                  <a:srgbClr val="000000"/>
                </a:solidFill>
                <a:latin typeface="Calibri"/>
              </a:rPr>
              <a:t> – Gamified experience, Fun customization.</a:t>
            </a:r>
          </a:p>
          <a:p>
            <a:pPr algn="l"/>
            <a:r>
              <a:rPr lang="en-IN" b="1" dirty="0" sz="1800">
                <a:solidFill>
                  <a:srgbClr val="000000"/>
                </a:solidFill>
                <a:latin typeface="Calibri"/>
              </a:rPr>
              <a:t>AI-Powered Features - </a:t>
            </a:r>
            <a:r>
              <a:rPr lang="en-GB" dirty="0" sz="1800">
                <a:solidFill>
                  <a:srgbClr val="000000"/>
                </a:solidFill>
                <a:latin typeface="Calibri"/>
              </a:rPr>
              <a:t>Personalized saving suggestions, financial education content.</a:t>
            </a:r>
            <a:endParaRPr lang="en-IN" dirty="0"/>
          </a:p>
          <a:p>
            <a:pPr algn="l"/>
            <a:r>
              <a:rPr lang="en-IN" b="1" dirty="0" sz="1800">
                <a:solidFill>
                  <a:srgbClr val="000000"/>
                </a:solidFill>
                <a:latin typeface="Calibri"/>
              </a:rPr>
              <a:t>Reliability -</a:t>
            </a:r>
            <a:r>
              <a:rPr lang="en-IN" dirty="0" sz="1800">
                <a:solidFill>
                  <a:srgbClr val="000000"/>
                </a:solidFill>
                <a:latin typeface="Calibri"/>
              </a:rPr>
              <a:t> 99.9% uptime SLA, Scalable architecture, Fast transaction (&lt;3 seconds).</a:t>
            </a:r>
            <a:endParaRPr lang="en-IN" b="1"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861445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4843-9F8D-8A05-E38E-FB149858F564}"/>
              </a:ext>
            </a:extLst>
          </p:cNvPr>
          <p:cNvSpPr>
            <a:spLocks noGrp="1"/>
          </p:cNvSpPr>
          <p:nvPr>
            <p:ph type="title"/>
          </p:nvPr>
        </p:nvSpPr>
        <p:spPr/>
        <p:txBody>
          <a:bodyPr/>
          <a:lstStyle/>
          <a:p>
            <a:pPr algn="l"/>
            <a:r>
              <a:rPr lang="en-IN" dirty="0" sz="1800">
                <a:solidFill>
                  <a:srgbClr val="000000"/>
                </a:solidFill>
                <a:latin typeface="Calibri"/>
              </a:rPr>
              <a:t>Secondary - System Attributes</a:t>
            </a:r>
          </a:p>
        </p:txBody>
      </p:sp>
      <p:sp>
        <p:nvSpPr>
          <p:cNvPr id="3" name="Content Placeholder 2">
            <a:extLst>
              <a:ext uri="{FF2B5EF4-FFF2-40B4-BE49-F238E27FC236}">
                <a16:creationId xmlns:a16="http://schemas.microsoft.com/office/drawing/2014/main" id="{CB9A3F5F-8AC7-5BF0-7337-AAEB79109D11}"/>
              </a:ext>
            </a:extLst>
          </p:cNvPr>
          <p:cNvSpPr>
            <a:spLocks noGrp="1"/>
          </p:cNvSpPr>
          <p:nvPr>
            <p:ph idx="1"/>
          </p:nvPr>
        </p:nvSpPr>
        <p:spPr/>
        <p:txBody>
          <a:bodyPr/>
          <a:lstStyle/>
          <a:p>
            <a:pPr algn="l"/>
            <a:r>
              <a:rPr lang="en-IN" b="1" dirty="0" sz="1800">
                <a:solidFill>
                  <a:srgbClr val="000000"/>
                </a:solidFill>
                <a:latin typeface="Calibri"/>
              </a:rPr>
              <a:t>Analytics &amp; Insights</a:t>
            </a:r>
            <a:r>
              <a:rPr lang="en-IN" dirty="0" sz="1800">
                <a:solidFill>
                  <a:srgbClr val="000000"/>
                </a:solidFill>
                <a:latin typeface="Calibri"/>
              </a:rPr>
              <a:t> - </a:t>
            </a:r>
            <a:r>
              <a:rPr lang="en-GB" dirty="0" sz="1800">
                <a:solidFill>
                  <a:srgbClr val="000000"/>
                </a:solidFill>
                <a:latin typeface="Calibri"/>
              </a:rPr>
              <a:t>Reports for compliance and audits.</a:t>
            </a:r>
          </a:p>
          <a:p>
            <a:pPr algn="l"/>
            <a:r>
              <a:rPr lang="en-IN" b="1" dirty="0" sz="1800">
                <a:solidFill>
                  <a:srgbClr val="000000"/>
                </a:solidFill>
                <a:latin typeface="Calibri"/>
              </a:rPr>
              <a:t>Scalability</a:t>
            </a:r>
            <a:r>
              <a:rPr lang="en-IN" dirty="0" sz="1800">
                <a:solidFill>
                  <a:srgbClr val="000000"/>
                </a:solidFill>
                <a:latin typeface="Calibri"/>
              </a:rPr>
              <a:t> - </a:t>
            </a:r>
            <a:r>
              <a:rPr lang="en-GB" dirty="0" sz="1800">
                <a:solidFill>
                  <a:srgbClr val="000000"/>
                </a:solidFill>
                <a:latin typeface="Calibri"/>
              </a:rPr>
              <a:t>Modular architecture for easy feature expansion.</a:t>
            </a:r>
          </a:p>
          <a:p>
            <a:pPr algn="l"/>
            <a:r>
              <a:rPr lang="en-IN" b="1" dirty="0" sz="1800">
                <a:solidFill>
                  <a:srgbClr val="000000"/>
                </a:solidFill>
                <a:latin typeface="Calibri"/>
              </a:rPr>
              <a:t>Performance</a:t>
            </a:r>
            <a:r>
              <a:rPr lang="en-IN" dirty="0" sz="1800">
                <a:solidFill>
                  <a:srgbClr val="000000"/>
                </a:solidFill>
                <a:latin typeface="Calibri"/>
              </a:rPr>
              <a:t> - </a:t>
            </a:r>
            <a:r>
              <a:rPr lang="en-GB" dirty="0" sz="1800">
                <a:solidFill>
                  <a:srgbClr val="000000"/>
                </a:solidFill>
                <a:latin typeface="Calibri"/>
              </a:rPr>
              <a:t>Optimized for low-bandwidth and mid-range devices.</a:t>
            </a:r>
          </a:p>
          <a:p>
            <a:pPr algn="l"/>
            <a:r>
              <a:rPr lang="en-IN" b="1" dirty="0" sz="1800">
                <a:solidFill>
                  <a:srgbClr val="000000"/>
                </a:solidFill>
                <a:latin typeface="Calibri"/>
              </a:rPr>
              <a:t>Accessibility</a:t>
            </a:r>
            <a:r>
              <a:rPr lang="en-IN" dirty="0" sz="1800">
                <a:solidFill>
                  <a:srgbClr val="000000"/>
                </a:solidFill>
                <a:latin typeface="Calibri"/>
              </a:rPr>
              <a:t> - </a:t>
            </a:r>
            <a:r>
              <a:rPr lang="en-GB" dirty="0" sz="1800">
                <a:solidFill>
                  <a:srgbClr val="000000"/>
                </a:solidFill>
                <a:latin typeface="Calibri"/>
              </a:rPr>
              <a:t>Voice-assisted navigation for ease of use.</a:t>
            </a:r>
            <a:endParaRPr lang="en-IN" dirty="0"/>
          </a:p>
        </p:txBody>
      </p:sp>
      <p:sp>
        <p:nvSpPr>
          <p:cNvPr id="4" name="TextBox 3"/>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5" name="TextBox 4"/>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07910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66E6-4D0A-2817-356E-2CFADEA11FCE}"/>
              </a:ext>
            </a:extLst>
          </p:cNvPr>
          <p:cNvSpPr>
            <a:spLocks noGrp="1"/>
          </p:cNvSpPr>
          <p:nvPr>
            <p:ph type="title"/>
          </p:nvPr>
        </p:nvSpPr>
        <p:spPr/>
        <p:txBody>
          <a:bodyPr/>
          <a:lstStyle/>
          <a:p>
            <a:pPr algn="l"/>
            <a:r>
              <a:rPr lang="en-IN" dirty="0" sz="1800">
                <a:solidFill>
                  <a:srgbClr val="000000"/>
                </a:solidFill>
                <a:latin typeface="Calibri"/>
              </a:rPr>
              <a:t>System Architecture</a:t>
            </a:r>
          </a:p>
        </p:txBody>
      </p:sp>
      <p:pic>
        <p:nvPicPr>
          <p:cNvPr id="4" name="Content Placeholder 3">
            <a:extLst>
              <a:ext uri="{FF2B5EF4-FFF2-40B4-BE49-F238E27FC236}">
                <a16:creationId xmlns:a16="http://schemas.microsoft.com/office/drawing/2014/main" id="{D5934541-DF91-BC04-9B87-1CDD4E50BA9E}"/>
              </a:ext>
            </a:extLst>
          </p:cNvPr>
          <p:cNvPicPr>
            <a:picLocks noGrp="1" noChangeAspect="1"/>
          </p:cNvPicPr>
          <p:nvPr>
            <p:ph idx="1"/>
          </p:nvPr>
        </p:nvPicPr>
        <p:blipFill>
          <a:blip r:embed="rId2"/>
          <a:srcRect t="17651"/>
          <a:stretch>
            <a:fillRect/>
          </a:stretch>
        </p:blipFill>
        <p:spPr>
          <a:xfrm>
            <a:off x="1756851" y="1428651"/>
            <a:ext cx="8365560" cy="4592637"/>
          </a:xfrm>
          <a:prstGeom prst="rect">
            <a:avLst/>
          </a:prstGeom>
        </p:spPr>
      </p:pic>
      <p:sp>
        <p:nvSpPr>
          <p:cNvPr id="5" name="TextBox 4"/>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6" name="TextBox 5"/>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3916933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7EDD-16B8-35C2-E97A-0A4214D479CE}"/>
              </a:ext>
            </a:extLst>
          </p:cNvPr>
          <p:cNvSpPr>
            <a:spLocks noGrp="1"/>
          </p:cNvSpPr>
          <p:nvPr>
            <p:ph type="title"/>
          </p:nvPr>
        </p:nvSpPr>
        <p:spPr/>
        <p:txBody>
          <a:bodyPr/>
          <a:lstStyle/>
          <a:p>
            <a:pPr algn="l"/>
            <a:r>
              <a:rPr lang="en" dirty="0" sz="1800">
                <a:solidFill>
                  <a:srgbClr val="000000"/>
                </a:solidFill>
                <a:latin typeface="Calibri"/>
                <a:ea typeface="Open Sans"/>
                <a:cs typeface="Open Sans"/>
                <a:sym typeface="Open Sans"/>
              </a:rPr>
              <a:t>LLM Configuration</a:t>
            </a:r>
            <a:endParaRPr lang="en-IN" dirty="0"/>
          </a:p>
        </p:txBody>
      </p:sp>
      <p:graphicFrame>
        <p:nvGraphicFramePr>
          <p:cNvPr id="5" name="Content Placeholder 4">
            <a:extLst>
              <a:ext uri="{FF2B5EF4-FFF2-40B4-BE49-F238E27FC236}">
                <a16:creationId xmlns:a16="http://schemas.microsoft.com/office/drawing/2014/main" id="{1EC62FB7-8250-6FB0-B3F4-5E0D48354FE0}"/>
              </a:ext>
            </a:extLst>
          </p:cNvPr>
          <p:cNvGraphicFramePr>
            <a:graphicFrameLocks noGrp="1"/>
          </p:cNvGraphicFramePr>
          <p:nvPr>
            <p:ph idx="1"/>
            <p:extLst>
              <p:ext uri="{D42A27DB-BD31-4B8C-83A1-F6EECF244321}">
                <p14:modId xmlns:p14="http://schemas.microsoft.com/office/powerpoint/2010/main" val="1169761985"/>
              </p:ext>
            </p:extLst>
          </p:nvPr>
        </p:nvGraphicFramePr>
        <p:xfrm>
          <a:off x="612775" y="1210568"/>
          <a:ext cx="11243865" cy="4394200"/>
        </p:xfrm>
        <a:graphic>
          <a:graphicData uri="http://schemas.openxmlformats.org/drawingml/2006/table">
            <a:tbl>
              <a:tblPr firstRow="1" bandRow="1">
                <a:tableStyleId>{5C22544A-7EE6-4342-B048-85BDC9FD1C3A}</a:tableStyleId>
              </a:tblPr>
              <a:tblGrid>
                <a:gridCol w="2823088">
                  <a:extLst>
                    <a:ext uri="{9D8B030D-6E8A-4147-A177-3AD203B41FA5}">
                      <a16:colId xmlns:a16="http://schemas.microsoft.com/office/drawing/2014/main" val="3294171751"/>
                    </a:ext>
                  </a:extLst>
                </a:gridCol>
                <a:gridCol w="4388329">
                  <a:extLst>
                    <a:ext uri="{9D8B030D-6E8A-4147-A177-3AD203B41FA5}">
                      <a16:colId xmlns:a16="http://schemas.microsoft.com/office/drawing/2014/main" val="1069210425"/>
                    </a:ext>
                  </a:extLst>
                </a:gridCol>
                <a:gridCol w="4032448">
                  <a:extLst>
                    <a:ext uri="{9D8B030D-6E8A-4147-A177-3AD203B41FA5}">
                      <a16:colId xmlns:a16="http://schemas.microsoft.com/office/drawing/2014/main" val="2455888086"/>
                    </a:ext>
                  </a:extLst>
                </a:gridCol>
              </a:tblGrid>
              <a:tr h="370840">
                <a:tc>
                  <a:txBody>
                    <a:bodyPr/>
                    <a:lstStyle/>
                    <a:p>
                      <a:r>
                        <a:rPr lang="en-IN" dirty="0"/>
                        <a:t>Property </a:t>
                      </a:r>
                    </a:p>
                  </a:txBody>
                  <a:tcPr/>
                </a:tc>
                <a:tc>
                  <a:txBody>
                    <a:bodyPr/>
                    <a:lstStyle/>
                    <a:p>
                      <a:r>
                        <a:rPr lang="en-IN" dirty="0"/>
                        <a:t>Value </a:t>
                      </a:r>
                    </a:p>
                  </a:txBody>
                  <a:tcPr/>
                </a:tc>
                <a:tc>
                  <a:txBody>
                    <a:bodyPr/>
                    <a:lstStyle/>
                    <a:p>
                      <a:r>
                        <a:rPr lang="en-IN" dirty="0"/>
                        <a:t>Rationale</a:t>
                      </a:r>
                    </a:p>
                  </a:txBody>
                  <a:tcPr/>
                </a:tc>
                <a:extLst>
                  <a:ext uri="{0D108BD9-81ED-4DB2-BD59-A6C34878D82A}">
                    <a16:rowId xmlns:a16="http://schemas.microsoft.com/office/drawing/2014/main" val="2395855573"/>
                  </a:ext>
                </a:extLst>
              </a:tr>
              <a:tr h="370840">
                <a:tc>
                  <a:txBody>
                    <a:bodyPr/>
                    <a:lstStyle/>
                    <a:p>
                      <a:r>
                        <a:rPr lang="en" sz="1800" dirty="0">
                          <a:latin typeface="Open Sans"/>
                          <a:ea typeface="Open Sans"/>
                          <a:cs typeface="Open Sans"/>
                          <a:sym typeface="Open Sans"/>
                        </a:rPr>
                        <a:t>License - </a:t>
                      </a:r>
                      <a:r>
                        <a:rPr lang="en-IN" dirty="0"/>
                        <a:t>Google Gemini</a:t>
                      </a:r>
                    </a:p>
                  </a:txBody>
                  <a:tcPr/>
                </a:tc>
                <a:tc>
                  <a:txBody>
                    <a:bodyPr/>
                    <a:lstStyle/>
                    <a:p>
                      <a:r>
                        <a:rPr lang="en-IN" dirty="0"/>
                        <a:t>Compliance &amp; Safety</a:t>
                      </a:r>
                    </a:p>
                    <a:p>
                      <a:r>
                        <a:rPr lang="en-IN" dirty="0"/>
                        <a:t>Integration with Google Ecosystem</a:t>
                      </a:r>
                    </a:p>
                    <a:p>
                      <a:r>
                        <a:rPr lang="en-IN" dirty="0"/>
                        <a:t>Scalability</a:t>
                      </a:r>
                    </a:p>
                    <a:p>
                      <a:r>
                        <a:rPr lang="en-IN" dirty="0"/>
                        <a:t>Cost &amp; Performance</a:t>
                      </a:r>
                    </a:p>
                    <a:p>
                      <a:r>
                        <a:rPr lang="en-GB" dirty="0"/>
                        <a:t>Google offers </a:t>
                      </a:r>
                      <a:r>
                        <a:rPr lang="en-GB" b="0" dirty="0"/>
                        <a:t>Vertex AI </a:t>
                      </a:r>
                      <a:r>
                        <a:rPr lang="en-GB" dirty="0"/>
                        <a:t>for fine-tuning Gemini on domain-specific data.</a:t>
                      </a:r>
                      <a:endParaRPr lang="en-IN" dirty="0"/>
                    </a:p>
                  </a:txBody>
                  <a:tcPr/>
                </a:tc>
                <a:tc>
                  <a:txBody>
                    <a:bodyPr/>
                    <a:lstStyle/>
                    <a:p>
                      <a:r>
                        <a:rPr lang="en-GB" dirty="0"/>
                        <a:t>Google prioritizes </a:t>
                      </a:r>
                      <a:r>
                        <a:rPr lang="en-GB" b="0" dirty="0"/>
                        <a:t>responsible AI</a:t>
                      </a:r>
                      <a:r>
                        <a:rPr lang="en-GB" dirty="0"/>
                        <a:t> with strong safety filters.</a:t>
                      </a:r>
                    </a:p>
                    <a:p>
                      <a:r>
                        <a:rPr lang="en-GB" dirty="0"/>
                        <a:t>Gemini is deeply integrated with Google Cloud, Android, and Play Store services.</a:t>
                      </a:r>
                    </a:p>
                    <a:p>
                      <a:r>
                        <a:rPr lang="en-GB" dirty="0"/>
                        <a:t>Google can leverage its own infrastructure for </a:t>
                      </a:r>
                      <a:r>
                        <a:rPr lang="en-GB" b="0" dirty="0"/>
                        <a:t>cost-efficient deployment.</a:t>
                      </a:r>
                      <a:endParaRPr lang="en-IN" b="0" dirty="0"/>
                    </a:p>
                  </a:txBody>
                  <a:tcPr/>
                </a:tc>
                <a:extLst>
                  <a:ext uri="{0D108BD9-81ED-4DB2-BD59-A6C34878D82A}">
                    <a16:rowId xmlns:a16="http://schemas.microsoft.com/office/drawing/2014/main" val="766356849"/>
                  </a:ext>
                </a:extLst>
              </a:tr>
              <a:tr h="370840">
                <a:tc>
                  <a:txBody>
                    <a:bodyPr/>
                    <a:lstStyle/>
                    <a:p>
                      <a:r>
                        <a:rPr lang="en-IN" dirty="0"/>
                        <a:t>Deployment Type – </a:t>
                      </a:r>
                    </a:p>
                    <a:p>
                      <a:r>
                        <a:rPr lang="en-IN" sz="1800" b="0" i="0" u="none" strike="noStrike" cap="none" dirty="0">
                          <a:solidFill>
                            <a:srgbClr val="000000"/>
                          </a:solidFill>
                          <a:latin typeface="Open Sans"/>
                          <a:ea typeface="Open Sans"/>
                          <a:cs typeface="Open Sans"/>
                          <a:sym typeface="Arial"/>
                        </a:rPr>
                        <a:t>On-device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0" i="0" u="none" strike="noStrike" cap="none" dirty="0">
                          <a:solidFill>
                            <a:srgbClr val="000000"/>
                          </a:solidFill>
                          <a:latin typeface="Open Sans"/>
                          <a:ea typeface="Open Sans"/>
                          <a:cs typeface="Open Sans"/>
                          <a:sym typeface="Arial"/>
                        </a:rPr>
                        <a:t>Cloud Deployment</a:t>
                      </a:r>
                      <a:endParaRPr lang="en-IN" dirty="0"/>
                    </a:p>
                  </a:txBody>
                  <a:tcPr/>
                </a:tc>
                <a:tc>
                  <a:txBody>
                    <a:bodyPr/>
                    <a:lstStyle/>
                    <a:p>
                      <a:r>
                        <a:rPr lang="en-GB" sz="1800" b="0" i="0" u="none" strike="noStrike" cap="none" dirty="0">
                          <a:solidFill>
                            <a:srgbClr val="000000"/>
                          </a:solidFill>
                          <a:latin typeface="Open Sans"/>
                          <a:ea typeface="Open Sans"/>
                          <a:cs typeface="Open Sans"/>
                          <a:sym typeface="Arial"/>
                        </a:rPr>
                        <a:t>Cloud-based inference (high accuracy, needs internet).</a:t>
                      </a:r>
                    </a:p>
                    <a:p>
                      <a:r>
                        <a:rPr lang="en-GB" sz="1800" b="0" i="0" u="none" strike="noStrike" cap="none" dirty="0">
                          <a:solidFill>
                            <a:srgbClr val="000000"/>
                          </a:solidFill>
                          <a:latin typeface="Open Sans"/>
                          <a:ea typeface="Open Sans"/>
                          <a:cs typeface="Open Sans"/>
                          <a:sym typeface="Arial"/>
                        </a:rPr>
                        <a:t>Edge/on-device inference (low latency, privacy).</a:t>
                      </a:r>
                    </a:p>
                    <a:p>
                      <a:r>
                        <a:rPr lang="en-GB" dirty="0"/>
                        <a:t>Hybrid approach for sensitive teen data.</a:t>
                      </a:r>
                      <a:endParaRPr lang="en-IN" dirty="0"/>
                    </a:p>
                  </a:txBody>
                  <a:tcPr/>
                </a:tc>
                <a:tc>
                  <a:txBody>
                    <a:bodyPr/>
                    <a:lstStyle/>
                    <a:p>
                      <a:r>
                        <a:rPr lang="en-GB" dirty="0"/>
                        <a:t> Reduces memory footprint for mobile deployment.</a:t>
                      </a:r>
                    </a:p>
                    <a:p>
                      <a:endParaRPr lang="en-IN" dirty="0"/>
                    </a:p>
                  </a:txBody>
                  <a:tcPr/>
                </a:tc>
                <a:extLst>
                  <a:ext uri="{0D108BD9-81ED-4DB2-BD59-A6C34878D82A}">
                    <a16:rowId xmlns:a16="http://schemas.microsoft.com/office/drawing/2014/main" val="2965160744"/>
                  </a:ext>
                </a:extLst>
              </a:tr>
            </a:tbl>
          </a:graphicData>
        </a:graphic>
      </p:graphicFrame>
      <p:sp>
        <p:nvSpPr>
          <p:cNvPr id="6" name="TextBox 5"/>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7" name="TextBox 6"/>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478901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8974B-C9B0-C02B-9008-9AAA61614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74105-0065-57BD-4578-E0306CD0C0F5}"/>
              </a:ext>
            </a:extLst>
          </p:cNvPr>
          <p:cNvSpPr>
            <a:spLocks noGrp="1"/>
          </p:cNvSpPr>
          <p:nvPr>
            <p:ph type="title"/>
          </p:nvPr>
        </p:nvSpPr>
        <p:spPr>
          <a:xfrm>
            <a:off x="612648" y="188640"/>
            <a:ext cx="10653578" cy="1132258"/>
          </a:xfrm>
        </p:spPr>
        <p:txBody>
          <a:bodyPr/>
          <a:lstStyle/>
          <a:p>
            <a:pPr algn="l"/>
            <a:r>
              <a:rPr lang="en" dirty="0" sz="1800">
                <a:solidFill>
                  <a:srgbClr val="000000"/>
                </a:solidFill>
                <a:latin typeface="Calibri"/>
                <a:ea typeface="Open Sans"/>
                <a:cs typeface="Open Sans"/>
                <a:sym typeface="Open Sans"/>
              </a:rPr>
              <a:t>LLM Configuration</a:t>
            </a:r>
            <a:endParaRPr lang="en-IN" dirty="0"/>
          </a:p>
        </p:txBody>
      </p:sp>
      <p:graphicFrame>
        <p:nvGraphicFramePr>
          <p:cNvPr id="5" name="Content Placeholder 4">
            <a:extLst>
              <a:ext uri="{FF2B5EF4-FFF2-40B4-BE49-F238E27FC236}">
                <a16:creationId xmlns:a16="http://schemas.microsoft.com/office/drawing/2014/main" id="{109C6412-B9AD-4008-2991-249ECC2BD52B}"/>
              </a:ext>
            </a:extLst>
          </p:cNvPr>
          <p:cNvGraphicFramePr>
            <a:graphicFrameLocks noGrp="1"/>
          </p:cNvGraphicFramePr>
          <p:nvPr>
            <p:ph idx="1"/>
            <p:extLst>
              <p:ext uri="{D42A27DB-BD31-4B8C-83A1-F6EECF244321}">
                <p14:modId xmlns:p14="http://schemas.microsoft.com/office/powerpoint/2010/main" val="1403693149"/>
              </p:ext>
            </p:extLst>
          </p:nvPr>
        </p:nvGraphicFramePr>
        <p:xfrm>
          <a:off x="612775" y="814546"/>
          <a:ext cx="11243865" cy="5412740"/>
        </p:xfrm>
        <a:graphic>
          <a:graphicData uri="http://schemas.openxmlformats.org/drawingml/2006/table">
            <a:tbl>
              <a:tblPr firstRow="1" bandRow="1">
                <a:tableStyleId>{5C22544A-7EE6-4342-B048-85BDC9FD1C3A}</a:tableStyleId>
              </a:tblPr>
              <a:tblGrid>
                <a:gridCol w="2823088">
                  <a:extLst>
                    <a:ext uri="{9D8B030D-6E8A-4147-A177-3AD203B41FA5}">
                      <a16:colId xmlns:a16="http://schemas.microsoft.com/office/drawing/2014/main" val="3294171751"/>
                    </a:ext>
                  </a:extLst>
                </a:gridCol>
                <a:gridCol w="4388329">
                  <a:extLst>
                    <a:ext uri="{9D8B030D-6E8A-4147-A177-3AD203B41FA5}">
                      <a16:colId xmlns:a16="http://schemas.microsoft.com/office/drawing/2014/main" val="1069210425"/>
                    </a:ext>
                  </a:extLst>
                </a:gridCol>
                <a:gridCol w="4032448">
                  <a:extLst>
                    <a:ext uri="{9D8B030D-6E8A-4147-A177-3AD203B41FA5}">
                      <a16:colId xmlns:a16="http://schemas.microsoft.com/office/drawing/2014/main" val="2455888086"/>
                    </a:ext>
                  </a:extLst>
                </a:gridCol>
              </a:tblGrid>
              <a:tr h="370840">
                <a:tc>
                  <a:txBody>
                    <a:bodyPr/>
                    <a:lstStyle/>
                    <a:p>
                      <a:r>
                        <a:rPr lang="en-IN" dirty="0"/>
                        <a:t>Property </a:t>
                      </a:r>
                    </a:p>
                  </a:txBody>
                  <a:tcPr/>
                </a:tc>
                <a:tc>
                  <a:txBody>
                    <a:bodyPr/>
                    <a:lstStyle/>
                    <a:p>
                      <a:r>
                        <a:rPr lang="en-IN" dirty="0"/>
                        <a:t>Value </a:t>
                      </a:r>
                    </a:p>
                  </a:txBody>
                  <a:tcPr/>
                </a:tc>
                <a:tc>
                  <a:txBody>
                    <a:bodyPr/>
                    <a:lstStyle/>
                    <a:p>
                      <a:r>
                        <a:rPr lang="en-IN" dirty="0"/>
                        <a:t>Rationale</a:t>
                      </a:r>
                    </a:p>
                  </a:txBody>
                  <a:tcPr/>
                </a:tc>
                <a:extLst>
                  <a:ext uri="{0D108BD9-81ED-4DB2-BD59-A6C34878D82A}">
                    <a16:rowId xmlns:a16="http://schemas.microsoft.com/office/drawing/2014/main" val="2395855573"/>
                  </a:ext>
                </a:extLst>
              </a:tr>
              <a:tr h="370840">
                <a:tc>
                  <a:txBody>
                    <a:bodyPr/>
                    <a:lstStyle/>
                    <a:p>
                      <a:r>
                        <a:rPr lang="en" sz="1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Temperature</a:t>
                      </a:r>
                      <a:endParaRPr lang="en-IN" dirty="0"/>
                    </a:p>
                  </a:txBody>
                  <a:tcPr/>
                </a:tc>
                <a:tc>
                  <a:txBody>
                    <a:bodyPr/>
                    <a:lstStyle/>
                    <a:p>
                      <a:r>
                        <a:rPr lang="en-GB" dirty="0"/>
                        <a:t>Low (0.2) → deterministic, factual responses.</a:t>
                      </a:r>
                    </a:p>
                    <a:p>
                      <a:r>
                        <a:rPr lang="en-GB" dirty="0"/>
                        <a:t>High (0.8) → creative, varied responses.</a:t>
                      </a:r>
                      <a:endParaRPr lang="en-IN" dirty="0"/>
                    </a:p>
                  </a:txBody>
                  <a:tcPr/>
                </a:tc>
                <a:tc>
                  <a:txBody>
                    <a:bodyPr/>
                    <a:lstStyle/>
                    <a:p>
                      <a:r>
                        <a:rPr lang="en-IN" b="0" dirty="0"/>
                        <a:t> Controls randomness in output</a:t>
                      </a:r>
                    </a:p>
                  </a:txBody>
                  <a:tcPr/>
                </a:tc>
                <a:extLst>
                  <a:ext uri="{0D108BD9-81ED-4DB2-BD59-A6C34878D82A}">
                    <a16:rowId xmlns:a16="http://schemas.microsoft.com/office/drawing/2014/main" val="7663568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Top K</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Low (10–20) for emergency instructions (consistent, safe).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Higher (40–50) for daily conversation, </a:t>
                      </a:r>
                      <a:endParaRPr lang="en-IN" dirty="0"/>
                    </a:p>
                  </a:txBody>
                  <a:tcPr/>
                </a:tc>
                <a:tc>
                  <a:txBody>
                    <a:bodyPr/>
                    <a:lstStyle/>
                    <a:p>
                      <a:r>
                        <a:rPr lang="en-GB" dirty="0"/>
                        <a:t>Limits sampling to top-k probable tokens.</a:t>
                      </a:r>
                    </a:p>
                    <a:p>
                      <a:endParaRPr lang="en-IN" dirty="0"/>
                    </a:p>
                  </a:txBody>
                  <a:tcPr/>
                </a:tc>
                <a:extLst>
                  <a:ext uri="{0D108BD9-81ED-4DB2-BD59-A6C34878D82A}">
                    <a16:rowId xmlns:a16="http://schemas.microsoft.com/office/drawing/2014/main" val="29651607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Fine-tuning</a:t>
                      </a:r>
                    </a:p>
                    <a:p>
                      <a:endParaRPr lang="en-IN" dirty="0"/>
                    </a:p>
                  </a:txBody>
                  <a:tcPr/>
                </a:tc>
                <a:tc>
                  <a:txBody>
                    <a:bodyPr/>
                    <a:lstStyle/>
                    <a:p>
                      <a:r>
                        <a:rPr lang="en-GB" dirty="0"/>
                        <a:t>Custom training on domain-specific data.</a:t>
                      </a:r>
                    </a:p>
                    <a:p>
                      <a:endParaRPr lang="en-IN" dirty="0"/>
                    </a:p>
                  </a:txBody>
                  <a:tcPr/>
                </a:tc>
                <a:tc>
                  <a:txBody>
                    <a:bodyPr/>
                    <a:lstStyle/>
                    <a:p>
                      <a:r>
                        <a:rPr lang="en-IN" dirty="0"/>
                        <a:t>Fine-tune on RBI guidelines, UPI workflows, parental control scenarios.</a:t>
                      </a:r>
                    </a:p>
                    <a:p>
                      <a:endParaRPr lang="en-IN" dirty="0"/>
                    </a:p>
                  </a:txBody>
                  <a:tcPr/>
                </a:tc>
                <a:extLst>
                  <a:ext uri="{0D108BD9-81ED-4DB2-BD59-A6C34878D82A}">
                    <a16:rowId xmlns:a16="http://schemas.microsoft.com/office/drawing/2014/main" val="4089680348"/>
                  </a:ext>
                </a:extLst>
              </a:tr>
              <a:tr h="370840">
                <a:tc>
                  <a:txBody>
                    <a:bodyPr/>
                    <a:lstStyle/>
                    <a:p>
                      <a:r>
                        <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Top-p (nucleus sampling)</a:t>
                      </a:r>
                      <a:endPar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0.9</a:t>
                      </a:r>
                      <a:endPar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GB"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Ensures diversity in output while maintaining relevance.</a:t>
                      </a:r>
                      <a:endPar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835725286"/>
                  </a:ext>
                </a:extLst>
              </a:tr>
              <a:tr h="0">
                <a:tc>
                  <a:txBody>
                    <a:bodyPr/>
                    <a:lstStyle/>
                    <a:p>
                      <a:pPr algn="l" rtl="0" fontAlgn="ctr">
                        <a:buNone/>
                      </a:pPr>
                      <a:r>
                        <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Safety Filters</a:t>
                      </a:r>
                    </a:p>
                  </a:txBody>
                  <a:tcPr marL="6350" marR="6350" marT="6350" marB="0" anchor="ctr"/>
                </a:tc>
                <a:tc>
                  <a:txBody>
                    <a:bodyPr/>
                    <a:lstStyle/>
                    <a:p>
                      <a:pPr algn="l" rtl="0" fontAlgn="ctr">
                        <a:buNone/>
                      </a:pPr>
                      <a:r>
                        <a:rPr lang="en-GB"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Content moderation layers.</a:t>
                      </a:r>
                    </a:p>
                  </a:txBody>
                  <a:tcPr marL="6350" marR="6350" marT="6350" marB="0" anchor="ctr"/>
                </a:tc>
                <a:tc>
                  <a:txBody>
                    <a:bodyPr/>
                    <a:lstStyle/>
                    <a:p>
                      <a:pPr algn="l" rtl="0" fontAlgn="ctr">
                        <a:buNone/>
                      </a:pPr>
                      <a:r>
                        <a:rPr lang="en-GB"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Enable strict filters for financial and teen-related queries.</a:t>
                      </a:r>
                    </a:p>
                  </a:txBody>
                  <a:tcPr marL="6350" marR="6350" marT="6350" marB="0" anchor="ctr"/>
                </a:tc>
                <a:extLst>
                  <a:ext uri="{0D108BD9-81ED-4DB2-BD59-A6C34878D82A}">
                    <a16:rowId xmlns:a16="http://schemas.microsoft.com/office/drawing/2014/main" val="920801375"/>
                  </a:ext>
                </a:extLst>
              </a:tr>
              <a:tr h="0">
                <a:tc>
                  <a:txBody>
                    <a:bodyPr/>
                    <a:lstStyle/>
                    <a:p>
                      <a:pPr algn="l" rtl="0" fontAlgn="ctr">
                        <a:buNone/>
                      </a:pPr>
                      <a:r>
                        <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Latency Threshold</a:t>
                      </a:r>
                    </a:p>
                  </a:txBody>
                  <a:tcPr marL="6350" marR="6350" marT="6350" marB="0" anchor="ctr"/>
                </a:tc>
                <a:tc>
                  <a:txBody>
                    <a:bodyPr/>
                    <a:lstStyle/>
                    <a:p>
                      <a:pPr algn="l" rtl="0" fontAlgn="ctr">
                        <a:buNone/>
                      </a:pPr>
                      <a:r>
                        <a:rPr lang="en-IN"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&lt; 500ms</a:t>
                      </a:r>
                      <a:endParaRPr lang="en-GB"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txBody>
                  <a:tcPr marL="6350" marR="6350" marT="6350" marB="0" anchor="ctr"/>
                </a:tc>
                <a:tc>
                  <a:txBody>
                    <a:bodyPr/>
                    <a:lstStyle/>
                    <a:p>
                      <a:pPr algn="l" rtl="0" fontAlgn="ctr">
                        <a:buNone/>
                      </a:pPr>
                      <a:r>
                        <a:rPr lang="en-GB" sz="1800" b="0" i="0" u="none" strike="noStrike" kern="1200" cap="none" dirty="0">
                          <a:solidFill>
                            <a:srgbClr val="000000"/>
                          </a:solidFill>
                          <a:latin typeface="Open Sans" panose="020B0606030504020204" pitchFamily="34" charset="0"/>
                          <a:ea typeface="Open Sans" panose="020B0606030504020204" pitchFamily="34" charset="0"/>
                          <a:cs typeface="Open Sans" panose="020B0606030504020204" pitchFamily="34" charset="0"/>
                        </a:rPr>
                        <a:t>Ensures real-time responsiveness for voice and emergency interactions.</a:t>
                      </a:r>
                    </a:p>
                  </a:txBody>
                  <a:tcPr marL="6350" marR="6350" marT="6350" marB="0" anchor="ctr"/>
                </a:tc>
                <a:extLst>
                  <a:ext uri="{0D108BD9-81ED-4DB2-BD59-A6C34878D82A}">
                    <a16:rowId xmlns:a16="http://schemas.microsoft.com/office/drawing/2014/main" val="1497146478"/>
                  </a:ext>
                </a:extLst>
              </a:tr>
            </a:tbl>
          </a:graphicData>
        </a:graphic>
      </p:graphicFrame>
      <p:sp>
        <p:nvSpPr>
          <p:cNvPr id="6" name="TextBox 5"/>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7" name="TextBox 6"/>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4052548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78EE-9A6E-0D33-DEB9-DB9C13A0BBB5}"/>
              </a:ext>
            </a:extLst>
          </p:cNvPr>
          <p:cNvSpPr>
            <a:spLocks noGrp="1"/>
          </p:cNvSpPr>
          <p:nvPr>
            <p:ph type="title"/>
          </p:nvPr>
        </p:nvSpPr>
        <p:spPr/>
        <p:txBody>
          <a:bodyPr/>
          <a:lstStyle/>
          <a:p>
            <a:pPr algn="l"/>
            <a:r>
              <a:rPr lang="en-IN" dirty="0" sz="1800">
                <a:solidFill>
                  <a:srgbClr val="000000"/>
                </a:solidFill>
                <a:latin typeface="Calibri"/>
              </a:rPr>
              <a:t>Metrics	</a:t>
            </a:r>
          </a:p>
        </p:txBody>
      </p:sp>
      <p:graphicFrame>
        <p:nvGraphicFramePr>
          <p:cNvPr id="4" name="Content Placeholder 3">
            <a:extLst>
              <a:ext uri="{FF2B5EF4-FFF2-40B4-BE49-F238E27FC236}">
                <a16:creationId xmlns:a16="http://schemas.microsoft.com/office/drawing/2014/main" id="{89A0C4A7-C9F8-608F-BEE4-B64F2A640F88}"/>
              </a:ext>
            </a:extLst>
          </p:cNvPr>
          <p:cNvGraphicFramePr>
            <a:graphicFrameLocks noGrp="1"/>
          </p:cNvGraphicFramePr>
          <p:nvPr>
            <p:ph idx="1"/>
            <p:extLst>
              <p:ext uri="{D42A27DB-BD31-4B8C-83A1-F6EECF244321}">
                <p14:modId xmlns:p14="http://schemas.microsoft.com/office/powerpoint/2010/main" val="190605103"/>
              </p:ext>
            </p:extLst>
          </p:nvPr>
        </p:nvGraphicFramePr>
        <p:xfrm>
          <a:off x="612775" y="1716088"/>
          <a:ext cx="11171857" cy="3790950"/>
        </p:xfrm>
        <a:graphic>
          <a:graphicData uri="http://schemas.openxmlformats.org/drawingml/2006/table">
            <a:tbl>
              <a:tblPr firstRow="1" bandRow="1">
                <a:tableStyleId>{5C22544A-7EE6-4342-B048-85BDC9FD1C3A}</a:tableStyleId>
              </a:tblPr>
              <a:tblGrid>
                <a:gridCol w="2386881">
                  <a:extLst>
                    <a:ext uri="{9D8B030D-6E8A-4147-A177-3AD203B41FA5}">
                      <a16:colId xmlns:a16="http://schemas.microsoft.com/office/drawing/2014/main" val="2542057222"/>
                    </a:ext>
                  </a:extLst>
                </a:gridCol>
                <a:gridCol w="4392488">
                  <a:extLst>
                    <a:ext uri="{9D8B030D-6E8A-4147-A177-3AD203B41FA5}">
                      <a16:colId xmlns:a16="http://schemas.microsoft.com/office/drawing/2014/main" val="1880388201"/>
                    </a:ext>
                  </a:extLst>
                </a:gridCol>
                <a:gridCol w="4392488">
                  <a:extLst>
                    <a:ext uri="{9D8B030D-6E8A-4147-A177-3AD203B41FA5}">
                      <a16:colId xmlns:a16="http://schemas.microsoft.com/office/drawing/2014/main" val="4100395864"/>
                    </a:ext>
                  </a:extLst>
                </a:gridCol>
              </a:tblGrid>
              <a:tr h="370840">
                <a:tc>
                  <a:txBody>
                    <a:bodyPr/>
                    <a:lstStyle/>
                    <a:p>
                      <a:r>
                        <a:rPr lang="en-IN" dirty="0"/>
                        <a:t>Metric for Business</a:t>
                      </a:r>
                    </a:p>
                  </a:txBody>
                  <a:tcPr/>
                </a:tc>
                <a:tc>
                  <a:txBody>
                    <a:bodyPr/>
                    <a:lstStyle/>
                    <a:p>
                      <a:r>
                        <a:rPr lang="en-IN" dirty="0"/>
                        <a:t>Ideal Value</a:t>
                      </a:r>
                    </a:p>
                  </a:txBody>
                  <a:tcPr/>
                </a:tc>
                <a:tc>
                  <a:txBody>
                    <a:bodyPr/>
                    <a:lstStyle/>
                    <a:p>
                      <a:r>
                        <a:rPr lang="en-IN" dirty="0"/>
                        <a:t>Purpose</a:t>
                      </a:r>
                    </a:p>
                  </a:txBody>
                  <a:tcPr/>
                </a:tc>
                <a:extLst>
                  <a:ext uri="{0D108BD9-81ED-4DB2-BD59-A6C34878D82A}">
                    <a16:rowId xmlns:a16="http://schemas.microsoft.com/office/drawing/2014/main" val="193509752"/>
                  </a:ext>
                </a:extLst>
              </a:tr>
              <a:tr h="370840">
                <a:tc>
                  <a:txBody>
                    <a:bodyPr/>
                    <a:lstStyle/>
                    <a:p>
                      <a:pPr algn="l" fontAlgn="b">
                        <a:buNone/>
                      </a:pPr>
                      <a:r>
                        <a:rPr lang="en-IN" sz="2000" kern="1200" dirty="0">
                          <a:solidFill>
                            <a:schemeClr val="tx1"/>
                          </a:solidFill>
                          <a:latin typeface="+mn-lt"/>
                          <a:ea typeface="+mn-ea"/>
                          <a:cs typeface="+mn-cs"/>
                        </a:rPr>
                        <a:t>User Adoption Rate</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tx1"/>
                          </a:solidFill>
                          <a:latin typeface="+mn-lt"/>
                          <a:ea typeface="+mn-ea"/>
                          <a:cs typeface="+mn-cs"/>
                        </a:rPr>
                        <a:t>15–20% month-over-month</a:t>
                      </a:r>
                    </a:p>
                  </a:txBody>
                  <a:tcPr/>
                </a:tc>
                <a:tc>
                  <a:txBody>
                    <a:bodyPr/>
                    <a:lstStyle/>
                    <a:p>
                      <a:r>
                        <a:rPr lang="en-GB" sz="2000" kern="1200" dirty="0">
                          <a:solidFill>
                            <a:schemeClr val="tx1"/>
                          </a:solidFill>
                          <a:latin typeface="+mn-lt"/>
                          <a:ea typeface="+mn-ea"/>
                          <a:cs typeface="+mn-cs"/>
                        </a:rPr>
                        <a:t>Measures market acceptance and effectiveness of onboarding..</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419648739"/>
                  </a:ext>
                </a:extLst>
              </a:tr>
              <a:tr h="370840">
                <a:tc>
                  <a:txBody>
                    <a:bodyPr/>
                    <a:lstStyle/>
                    <a:p>
                      <a:pPr algn="l" fontAlgn="b">
                        <a:buNone/>
                      </a:pPr>
                      <a:r>
                        <a:rPr lang="en-IN" sz="2000" kern="1200" dirty="0">
                          <a:solidFill>
                            <a:schemeClr val="tx1"/>
                          </a:solidFill>
                          <a:latin typeface="+mn-lt"/>
                          <a:ea typeface="+mn-ea"/>
                          <a:cs typeface="+mn-cs"/>
                        </a:rPr>
                        <a:t>Transaction Volume</a:t>
                      </a:r>
                    </a:p>
                  </a:txBody>
                  <a:tcPr marL="6350" marR="6350" marT="6350" marB="0" anchor="b"/>
                </a:tc>
                <a:tc>
                  <a:txBody>
                    <a:bodyPr/>
                    <a:lstStyle/>
                    <a:p>
                      <a:pPr algn="l" fontAlgn="b">
                        <a:buNone/>
                      </a:pPr>
                      <a:r>
                        <a:rPr lang="en-IN" sz="2000" kern="1200" dirty="0">
                          <a:solidFill>
                            <a:schemeClr val="tx1"/>
                          </a:solidFill>
                          <a:latin typeface="+mn-lt"/>
                          <a:ea typeface="+mn-ea"/>
                          <a:cs typeface="+mn-cs"/>
                        </a:rPr>
                        <a:t>5–8 </a:t>
                      </a:r>
                      <a:r>
                        <a:rPr lang="en-GB" sz="2000" kern="1200" dirty="0">
                          <a:solidFill>
                            <a:schemeClr val="tx1"/>
                          </a:solidFill>
                          <a:latin typeface="+mn-lt"/>
                          <a:ea typeface="+mn-ea"/>
                          <a:cs typeface="+mn-cs"/>
                        </a:rPr>
                        <a:t>Transactions per User per Month:</a:t>
                      </a:r>
                      <a:endParaRPr lang="en-IN" sz="2000" kern="1200" dirty="0">
                        <a:solidFill>
                          <a:schemeClr val="tx1"/>
                        </a:solidFill>
                        <a:latin typeface="+mn-lt"/>
                        <a:ea typeface="+mn-ea"/>
                        <a:cs typeface="+mn-cs"/>
                      </a:endParaRPr>
                    </a:p>
                  </a:txBody>
                  <a:tcPr marL="6350" marR="6350" marT="6350" marB="0" anchor="b"/>
                </a:tc>
                <a:tc>
                  <a:txBody>
                    <a:bodyPr/>
                    <a:lstStyle/>
                    <a:p>
                      <a:pPr algn="l" fontAlgn="b">
                        <a:buNone/>
                      </a:pPr>
                      <a:r>
                        <a:rPr lang="en-GB" sz="2000" kern="1200" dirty="0">
                          <a:solidFill>
                            <a:schemeClr val="tx1"/>
                          </a:solidFill>
                          <a:latin typeface="+mn-lt"/>
                          <a:ea typeface="+mn-ea"/>
                          <a:cs typeface="+mn-cs"/>
                        </a:rPr>
                        <a:t>Total UPI and wallet transaction value per month.</a:t>
                      </a:r>
                    </a:p>
                  </a:txBody>
                  <a:tcPr marL="6350" marR="6350" marT="6350" marB="0" anchor="b"/>
                </a:tc>
                <a:extLst>
                  <a:ext uri="{0D108BD9-81ED-4DB2-BD59-A6C34878D82A}">
                    <a16:rowId xmlns:a16="http://schemas.microsoft.com/office/drawing/2014/main" val="3919415968"/>
                  </a:ext>
                </a:extLst>
              </a:tr>
              <a:tr h="370840">
                <a:tc>
                  <a:txBody>
                    <a:bodyPr/>
                    <a:lstStyle/>
                    <a:p>
                      <a:pPr algn="l" fontAlgn="b">
                        <a:buNone/>
                      </a:pPr>
                      <a:r>
                        <a:rPr lang="en-IN" sz="2000" kern="1200" dirty="0">
                          <a:solidFill>
                            <a:schemeClr val="tx1"/>
                          </a:solidFill>
                          <a:latin typeface="+mn-lt"/>
                          <a:ea typeface="+mn-ea"/>
                          <a:cs typeface="+mn-cs"/>
                        </a:rPr>
                        <a:t>Revenue</a:t>
                      </a:r>
                    </a:p>
                  </a:txBody>
                  <a:tcPr marL="6350" marR="6350" marT="6350" marB="0" anchor="b"/>
                </a:tc>
                <a:tc>
                  <a:txBody>
                    <a:bodyPr/>
                    <a:lstStyle/>
                    <a:p>
                      <a:r>
                        <a:rPr lang="en-IN" sz="2000" kern="1200" dirty="0">
                          <a:solidFill>
                            <a:schemeClr val="tx1"/>
                          </a:solidFill>
                          <a:latin typeface="+mn-lt"/>
                          <a:ea typeface="+mn-ea"/>
                          <a:cs typeface="+mn-cs"/>
                        </a:rPr>
                        <a:t>0.1–0.2% Commission</a:t>
                      </a:r>
                    </a:p>
                  </a:txBody>
                  <a:tcPr/>
                </a:tc>
                <a:tc>
                  <a:txBody>
                    <a:bodyPr/>
                    <a:lstStyle/>
                    <a:p>
                      <a:r>
                        <a:rPr lang="en-IN" sz="2000" kern="1200" dirty="0">
                          <a:solidFill>
                            <a:schemeClr val="tx1"/>
                          </a:solidFill>
                          <a:latin typeface="+mn-lt"/>
                          <a:ea typeface="+mn-ea"/>
                          <a:cs typeface="+mn-cs"/>
                        </a:rPr>
                        <a:t>Commission from merchant transactions.</a:t>
                      </a:r>
                    </a:p>
                  </a:txBody>
                  <a:tcPr/>
                </a:tc>
                <a:extLst>
                  <a:ext uri="{0D108BD9-81ED-4DB2-BD59-A6C34878D82A}">
                    <a16:rowId xmlns:a16="http://schemas.microsoft.com/office/drawing/2014/main" val="3323777524"/>
                  </a:ext>
                </a:extLst>
              </a:tr>
              <a:tr h="370840">
                <a:tc>
                  <a:txBody>
                    <a:bodyPr/>
                    <a:lstStyle/>
                    <a:p>
                      <a:pPr algn="l" fontAlgn="b">
                        <a:buNone/>
                      </a:pPr>
                      <a:r>
                        <a:rPr lang="en-IN" sz="2000" kern="1200" dirty="0">
                          <a:solidFill>
                            <a:schemeClr val="tx1"/>
                          </a:solidFill>
                          <a:latin typeface="+mn-lt"/>
                          <a:ea typeface="+mn-ea"/>
                          <a:cs typeface="+mn-cs"/>
                        </a:rPr>
                        <a:t>Churn Rate</a:t>
                      </a:r>
                    </a:p>
                  </a:txBody>
                  <a:tcPr marL="6350" marR="6350" marT="6350" marB="0" anchor="b"/>
                </a:tc>
                <a:tc>
                  <a:txBody>
                    <a:bodyPr/>
                    <a:lstStyle/>
                    <a:p>
                      <a:r>
                        <a:rPr lang="en-IN" sz="2000" kern="1200" dirty="0">
                          <a:solidFill>
                            <a:schemeClr val="tx1"/>
                          </a:solidFill>
                          <a:latin typeface="+mn-lt"/>
                          <a:ea typeface="+mn-ea"/>
                          <a:cs typeface="+mn-cs"/>
                        </a:rPr>
                        <a:t>&lt;5% per month</a:t>
                      </a:r>
                    </a:p>
                  </a:txBody>
                  <a:tcPr/>
                </a:tc>
                <a:tc>
                  <a:txBody>
                    <a:bodyPr/>
                    <a:lstStyle/>
                    <a:p>
                      <a:r>
                        <a:rPr lang="en-GB" sz="2000" kern="1200" dirty="0">
                          <a:solidFill>
                            <a:schemeClr val="tx1"/>
                          </a:solidFill>
                          <a:latin typeface="+mn-lt"/>
                          <a:ea typeface="+mn-ea"/>
                          <a:cs typeface="+mn-cs"/>
                        </a:rPr>
                        <a:t>% of users leaving the app monthly.</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809207573"/>
                  </a:ext>
                </a:extLst>
              </a:tr>
              <a:tr h="370840">
                <a:tc>
                  <a:txBody>
                    <a:bodyPr/>
                    <a:lstStyle/>
                    <a:p>
                      <a:pPr algn="l" fontAlgn="b">
                        <a:buNone/>
                      </a:pPr>
                      <a:r>
                        <a:rPr lang="en-IN" sz="2000" kern="1200" dirty="0">
                          <a:solidFill>
                            <a:schemeClr val="tx1"/>
                          </a:solidFill>
                          <a:latin typeface="+mn-lt"/>
                          <a:ea typeface="+mn-ea"/>
                          <a:cs typeface="+mn-cs"/>
                        </a:rPr>
                        <a:t>Compliance</a:t>
                      </a:r>
                    </a:p>
                  </a:txBody>
                  <a:tcPr marL="6350" marR="6350" marT="6350" marB="0" anchor="b"/>
                </a:tc>
                <a:tc>
                  <a:txBody>
                    <a:bodyPr/>
                    <a:lstStyle/>
                    <a:p>
                      <a:r>
                        <a:rPr lang="en-IN" sz="2000" kern="1200" dirty="0">
                          <a:solidFill>
                            <a:schemeClr val="tx1"/>
                          </a:solidFill>
                          <a:latin typeface="+mn-lt"/>
                          <a:ea typeface="+mn-ea"/>
                          <a:cs typeface="+mn-cs"/>
                        </a:rPr>
                        <a:t>KYC Completion Rate: &gt;90%</a:t>
                      </a:r>
                    </a:p>
                    <a:p>
                      <a:r>
                        <a:rPr lang="en-IN" sz="2000" kern="1200" dirty="0">
                          <a:solidFill>
                            <a:schemeClr val="tx1"/>
                          </a:solidFill>
                          <a:latin typeface="+mn-lt"/>
                          <a:ea typeface="+mn-ea"/>
                          <a:cs typeface="+mn-cs"/>
                        </a:rPr>
                        <a:t>Fraud Detection Accuracy (AI): &gt;95%</a:t>
                      </a:r>
                    </a:p>
                  </a:txBody>
                  <a:tcPr/>
                </a:tc>
                <a:tc>
                  <a:txBody>
                    <a:bodyPr/>
                    <a:lstStyle/>
                    <a:p>
                      <a:r>
                        <a:rPr lang="en-GB" sz="2000" kern="1200" dirty="0">
                          <a:solidFill>
                            <a:schemeClr val="tx1"/>
                          </a:solidFill>
                          <a:latin typeface="+mn-lt"/>
                          <a:ea typeface="+mn-ea"/>
                          <a:cs typeface="+mn-cs"/>
                        </a:rPr>
                        <a:t>% of users with Full-KYC completed.</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399245153"/>
                  </a:ext>
                </a:extLst>
              </a:tr>
            </a:tbl>
          </a:graphicData>
        </a:graphic>
      </p:graphicFrame>
      <p:sp>
        <p:nvSpPr>
          <p:cNvPr id="5" name="TextBox 4"/>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6" name="TextBox 5"/>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2622226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8B36-7B19-45F4-56DC-B644E54D4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82621-11CC-4489-B72F-5435DA3C8D92}"/>
              </a:ext>
            </a:extLst>
          </p:cNvPr>
          <p:cNvSpPr>
            <a:spLocks noGrp="1"/>
          </p:cNvSpPr>
          <p:nvPr>
            <p:ph type="title"/>
          </p:nvPr>
        </p:nvSpPr>
        <p:spPr/>
        <p:txBody>
          <a:bodyPr/>
          <a:lstStyle/>
          <a:p>
            <a:pPr algn="l"/>
            <a:r>
              <a:rPr lang="en-IN" dirty="0" sz="1800">
                <a:solidFill>
                  <a:srgbClr val="000000"/>
                </a:solidFill>
                <a:latin typeface="Calibri"/>
              </a:rPr>
              <a:t>Metrics	</a:t>
            </a:r>
          </a:p>
        </p:txBody>
      </p:sp>
      <p:graphicFrame>
        <p:nvGraphicFramePr>
          <p:cNvPr id="4" name="Content Placeholder 3">
            <a:extLst>
              <a:ext uri="{FF2B5EF4-FFF2-40B4-BE49-F238E27FC236}">
                <a16:creationId xmlns:a16="http://schemas.microsoft.com/office/drawing/2014/main" id="{3648A91D-3B16-E1A4-C58D-ED71D6AB0538}"/>
              </a:ext>
            </a:extLst>
          </p:cNvPr>
          <p:cNvGraphicFramePr>
            <a:graphicFrameLocks noGrp="1"/>
          </p:cNvGraphicFramePr>
          <p:nvPr>
            <p:ph idx="1"/>
            <p:extLst>
              <p:ext uri="{D42A27DB-BD31-4B8C-83A1-F6EECF244321}">
                <p14:modId xmlns:p14="http://schemas.microsoft.com/office/powerpoint/2010/main" val="2119169651"/>
              </p:ext>
            </p:extLst>
          </p:nvPr>
        </p:nvGraphicFramePr>
        <p:xfrm>
          <a:off x="612775" y="1716088"/>
          <a:ext cx="11171857" cy="3790950"/>
        </p:xfrm>
        <a:graphic>
          <a:graphicData uri="http://schemas.openxmlformats.org/drawingml/2006/table">
            <a:tbl>
              <a:tblPr firstRow="1" bandRow="1">
                <a:tableStyleId>{5C22544A-7EE6-4342-B048-85BDC9FD1C3A}</a:tableStyleId>
              </a:tblPr>
              <a:tblGrid>
                <a:gridCol w="3106961">
                  <a:extLst>
                    <a:ext uri="{9D8B030D-6E8A-4147-A177-3AD203B41FA5}">
                      <a16:colId xmlns:a16="http://schemas.microsoft.com/office/drawing/2014/main" val="2542057222"/>
                    </a:ext>
                  </a:extLst>
                </a:gridCol>
                <a:gridCol w="3672408">
                  <a:extLst>
                    <a:ext uri="{9D8B030D-6E8A-4147-A177-3AD203B41FA5}">
                      <a16:colId xmlns:a16="http://schemas.microsoft.com/office/drawing/2014/main" val="1880388201"/>
                    </a:ext>
                  </a:extLst>
                </a:gridCol>
                <a:gridCol w="4392488">
                  <a:extLst>
                    <a:ext uri="{9D8B030D-6E8A-4147-A177-3AD203B41FA5}">
                      <a16:colId xmlns:a16="http://schemas.microsoft.com/office/drawing/2014/main" val="4100395864"/>
                    </a:ext>
                  </a:extLst>
                </a:gridCol>
              </a:tblGrid>
              <a:tr h="370840">
                <a:tc>
                  <a:txBody>
                    <a:bodyPr/>
                    <a:lstStyle/>
                    <a:p>
                      <a:r>
                        <a:rPr lang="en-IN" dirty="0"/>
                        <a:t>Metric for Product</a:t>
                      </a:r>
                    </a:p>
                  </a:txBody>
                  <a:tcPr/>
                </a:tc>
                <a:tc>
                  <a:txBody>
                    <a:bodyPr/>
                    <a:lstStyle/>
                    <a:p>
                      <a:r>
                        <a:rPr lang="en-IN" dirty="0"/>
                        <a:t>Ideal Value</a:t>
                      </a:r>
                    </a:p>
                  </a:txBody>
                  <a:tcPr/>
                </a:tc>
                <a:tc>
                  <a:txBody>
                    <a:bodyPr/>
                    <a:lstStyle/>
                    <a:p>
                      <a:r>
                        <a:rPr lang="en-IN" dirty="0"/>
                        <a:t>Purpose</a:t>
                      </a:r>
                    </a:p>
                  </a:txBody>
                  <a:tcPr/>
                </a:tc>
                <a:extLst>
                  <a:ext uri="{0D108BD9-81ED-4DB2-BD59-A6C34878D82A}">
                    <a16:rowId xmlns:a16="http://schemas.microsoft.com/office/drawing/2014/main" val="193509752"/>
                  </a:ext>
                </a:extLst>
              </a:tr>
              <a:tr h="370840">
                <a:tc>
                  <a:txBody>
                    <a:bodyPr/>
                    <a:lstStyle/>
                    <a:p>
                      <a:pPr algn="l" fontAlgn="b">
                        <a:buNone/>
                      </a:pPr>
                      <a:r>
                        <a:rPr lang="en-IN" sz="2000" dirty="0"/>
                        <a:t>Security</a:t>
                      </a:r>
                      <a:endParaRPr lang="en-IN" sz="2000" kern="1200" dirty="0">
                        <a:solidFill>
                          <a:schemeClr val="tx1"/>
                        </a:solidFill>
                        <a:latin typeface="+mn-lt"/>
                        <a:ea typeface="+mn-ea"/>
                        <a:cs typeface="+mn-cs"/>
                      </a:endParaRP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t>Fraud Detection Accuracy: &gt;95%</a:t>
                      </a:r>
                      <a:endParaRPr lang="en-IN" sz="2000" kern="1200" dirty="0">
                        <a:solidFill>
                          <a:schemeClr val="tx1"/>
                        </a:solidFill>
                        <a:latin typeface="+mn-lt"/>
                        <a:ea typeface="+mn-ea"/>
                        <a:cs typeface="+mn-cs"/>
                      </a:endParaRPr>
                    </a:p>
                  </a:txBody>
                  <a:tcPr/>
                </a:tc>
                <a:tc>
                  <a:txBody>
                    <a:bodyPr/>
                    <a:lstStyle/>
                    <a:p>
                      <a:r>
                        <a:rPr lang="en-GB" sz="2000" kern="1200" dirty="0">
                          <a:solidFill>
                            <a:schemeClr val="tx1"/>
                          </a:solidFill>
                          <a:latin typeface="+mn-lt"/>
                          <a:ea typeface="+mn-ea"/>
                          <a:cs typeface="+mn-cs"/>
                        </a:rPr>
                        <a:t>Number of fraud attempts detected and prevented.</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419648739"/>
                  </a:ext>
                </a:extLst>
              </a:tr>
              <a:tr h="370840">
                <a:tc>
                  <a:txBody>
                    <a:bodyPr/>
                    <a:lstStyle/>
                    <a:p>
                      <a:pPr algn="l" fontAlgn="b">
                        <a:buNone/>
                      </a:pPr>
                      <a:r>
                        <a:rPr lang="en-IN" sz="2000" dirty="0"/>
                        <a:t>Transaction Success Rate</a:t>
                      </a:r>
                      <a:endParaRPr lang="en-IN" sz="2000" kern="1200" dirty="0">
                        <a:solidFill>
                          <a:schemeClr val="tx1"/>
                        </a:solidFill>
                        <a:latin typeface="+mn-lt"/>
                        <a:ea typeface="+mn-ea"/>
                        <a:cs typeface="+mn-cs"/>
                      </a:endParaRPr>
                    </a:p>
                  </a:txBody>
                  <a:tcPr marL="6350" marR="6350" marT="6350" marB="0" anchor="b"/>
                </a:tc>
                <a:tc>
                  <a:txBody>
                    <a:bodyPr/>
                    <a:lstStyle/>
                    <a:p>
                      <a:pPr algn="l" fontAlgn="b">
                        <a:buNone/>
                      </a:pPr>
                      <a:r>
                        <a:rPr lang="en-IN" sz="2000" kern="1200" dirty="0">
                          <a:solidFill>
                            <a:schemeClr val="tx1"/>
                          </a:solidFill>
                          <a:latin typeface="+mn-lt"/>
                          <a:ea typeface="+mn-ea"/>
                          <a:cs typeface="+mn-cs"/>
                        </a:rPr>
                        <a:t>&gt;=99%</a:t>
                      </a:r>
                    </a:p>
                  </a:txBody>
                  <a:tcPr marL="6350" marR="6350" marT="6350" marB="0" anchor="b"/>
                </a:tc>
                <a:tc>
                  <a:txBody>
                    <a:bodyPr/>
                    <a:lstStyle/>
                    <a:p>
                      <a:pPr algn="l" fontAlgn="b">
                        <a:buNone/>
                      </a:pPr>
                      <a:r>
                        <a:rPr lang="en-GB" sz="2000" kern="1200" dirty="0">
                          <a:solidFill>
                            <a:schemeClr val="tx1"/>
                          </a:solidFill>
                          <a:latin typeface="+mn-lt"/>
                          <a:ea typeface="+mn-ea"/>
                          <a:cs typeface="+mn-cs"/>
                        </a:rPr>
                        <a:t>% of successful UPI and wallet transactions.</a:t>
                      </a:r>
                    </a:p>
                  </a:txBody>
                  <a:tcPr marL="6350" marR="6350" marT="6350" marB="0" anchor="b"/>
                </a:tc>
                <a:extLst>
                  <a:ext uri="{0D108BD9-81ED-4DB2-BD59-A6C34878D82A}">
                    <a16:rowId xmlns:a16="http://schemas.microsoft.com/office/drawing/2014/main" val="3919415968"/>
                  </a:ext>
                </a:extLst>
              </a:tr>
              <a:tr h="370840">
                <a:tc>
                  <a:txBody>
                    <a:bodyPr/>
                    <a:lstStyle/>
                    <a:p>
                      <a:pPr algn="l" fontAlgn="b">
                        <a:buNone/>
                      </a:pPr>
                      <a:r>
                        <a:rPr lang="en-IN" sz="2000" dirty="0"/>
                        <a:t>Average Transaction Time</a:t>
                      </a:r>
                      <a:endParaRPr lang="en-IN" sz="2000" kern="1200" dirty="0">
                        <a:solidFill>
                          <a:schemeClr val="tx1"/>
                        </a:solidFill>
                        <a:latin typeface="+mn-lt"/>
                        <a:ea typeface="+mn-ea"/>
                        <a:cs typeface="+mn-cs"/>
                      </a:endParaRPr>
                    </a:p>
                  </a:txBody>
                  <a:tcPr marL="6350" marR="6350" marT="6350" marB="0" anchor="b"/>
                </a:tc>
                <a:tc>
                  <a:txBody>
                    <a:bodyPr/>
                    <a:lstStyle/>
                    <a:p>
                      <a:r>
                        <a:rPr lang="en-IN" sz="2000" dirty="0"/>
                        <a:t>Time to Complete Transaction: </a:t>
                      </a:r>
                      <a:r>
                        <a:rPr lang="en-IN" sz="2000" b="1" dirty="0"/>
                        <a:t>&lt;3 seconds</a:t>
                      </a:r>
                      <a:endParaRPr lang="en-IN" sz="2000" kern="1200" dirty="0">
                        <a:solidFill>
                          <a:schemeClr val="tx1"/>
                        </a:solidFill>
                        <a:latin typeface="+mn-lt"/>
                        <a:ea typeface="+mn-ea"/>
                        <a:cs typeface="+mn-cs"/>
                      </a:endParaRPr>
                    </a:p>
                  </a:txBody>
                  <a:tcPr/>
                </a:tc>
                <a:tc>
                  <a:txBody>
                    <a:bodyPr/>
                    <a:lstStyle/>
                    <a:p>
                      <a:r>
                        <a:rPr lang="en-GB" sz="2000" kern="1200" dirty="0">
                          <a:solidFill>
                            <a:schemeClr val="tx1"/>
                          </a:solidFill>
                          <a:latin typeface="+mn-lt"/>
                          <a:ea typeface="+mn-ea"/>
                          <a:cs typeface="+mn-cs"/>
                        </a:rPr>
                        <a:t>Time taken to complete a payment </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3323777524"/>
                  </a:ext>
                </a:extLst>
              </a:tr>
              <a:tr h="370840">
                <a:tc>
                  <a:txBody>
                    <a:bodyPr/>
                    <a:lstStyle/>
                    <a:p>
                      <a:pPr algn="l" fontAlgn="b">
                        <a:buNone/>
                      </a:pPr>
                      <a:r>
                        <a:rPr lang="en-IN" sz="2000" dirty="0"/>
                        <a:t>Engagement</a:t>
                      </a:r>
                      <a:endParaRPr lang="en-IN" sz="2000" kern="1200" dirty="0">
                        <a:solidFill>
                          <a:schemeClr val="tx1"/>
                        </a:solidFill>
                        <a:latin typeface="+mn-lt"/>
                        <a:ea typeface="+mn-ea"/>
                        <a:cs typeface="+mn-cs"/>
                      </a:endParaRPr>
                    </a:p>
                  </a:txBody>
                  <a:tcPr marL="6350" marR="6350" marT="6350" marB="0" anchor="b"/>
                </a:tc>
                <a:tc>
                  <a:txBody>
                    <a:bodyPr/>
                    <a:lstStyle/>
                    <a:p>
                      <a:r>
                        <a:rPr lang="en-IN" sz="2000" dirty="0"/>
                        <a:t>Average Session Duration: 3–5 minutes</a:t>
                      </a:r>
                      <a:endParaRPr lang="en-IN" sz="2000" kern="1200" dirty="0">
                        <a:solidFill>
                          <a:schemeClr val="tx1"/>
                        </a:solidFill>
                        <a:latin typeface="+mn-lt"/>
                        <a:ea typeface="+mn-ea"/>
                        <a:cs typeface="+mn-cs"/>
                      </a:endParaRPr>
                    </a:p>
                  </a:txBody>
                  <a:tcPr/>
                </a:tc>
                <a:tc>
                  <a:txBody>
                    <a:bodyPr/>
                    <a:lstStyle/>
                    <a:p>
                      <a:r>
                        <a:rPr lang="en-GB" sz="2000" kern="1200" dirty="0">
                          <a:solidFill>
                            <a:schemeClr val="tx1"/>
                          </a:solidFill>
                          <a:latin typeface="+mn-lt"/>
                          <a:ea typeface="+mn-ea"/>
                          <a:cs typeface="+mn-cs"/>
                        </a:rPr>
                        <a:t>Average sessions per user per week.</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809207573"/>
                  </a:ext>
                </a:extLst>
              </a:tr>
              <a:tr h="370840">
                <a:tc>
                  <a:txBody>
                    <a:bodyPr/>
                    <a:lstStyle/>
                    <a:p>
                      <a:pPr algn="l" fontAlgn="b">
                        <a:buNone/>
                      </a:pPr>
                      <a:r>
                        <a:rPr lang="en-IN" sz="2000" dirty="0"/>
                        <a:t>Retention</a:t>
                      </a:r>
                      <a:endParaRPr lang="en-IN" sz="2000" kern="1200" dirty="0">
                        <a:solidFill>
                          <a:schemeClr val="tx1"/>
                        </a:solidFill>
                        <a:latin typeface="+mn-lt"/>
                        <a:ea typeface="+mn-ea"/>
                        <a:cs typeface="+mn-cs"/>
                      </a:endParaRPr>
                    </a:p>
                  </a:txBody>
                  <a:tcPr marL="6350" marR="6350" marT="6350" marB="0" anchor="b"/>
                </a:tc>
                <a:tc>
                  <a:txBody>
                    <a:bodyPr/>
                    <a:lstStyle/>
                    <a:p>
                      <a:r>
                        <a:rPr lang="en-IN" sz="2000" dirty="0"/>
                        <a:t>Day 30 Retention Rate:40–50%</a:t>
                      </a:r>
                      <a:endParaRPr lang="en-IN" sz="2000" kern="1200" dirty="0">
                        <a:solidFill>
                          <a:schemeClr val="tx1"/>
                        </a:solidFill>
                        <a:latin typeface="+mn-lt"/>
                        <a:ea typeface="+mn-ea"/>
                        <a:cs typeface="+mn-cs"/>
                      </a:endParaRPr>
                    </a:p>
                  </a:txBody>
                  <a:tcPr/>
                </a:tc>
                <a:tc>
                  <a:txBody>
                    <a:bodyPr/>
                    <a:lstStyle/>
                    <a:p>
                      <a:r>
                        <a:rPr lang="en-IN" sz="1800" b="0" i="0" kern="1200">
                          <a:solidFill>
                            <a:schemeClr val="dk1"/>
                          </a:solidFill>
                          <a:effectLst/>
                          <a:latin typeface="+mn-lt"/>
                          <a:ea typeface="+mn-ea"/>
                          <a:cs typeface="+mn-cs"/>
                        </a:rPr>
                        <a:t>Customer </a:t>
                      </a:r>
                      <a:r>
                        <a:rPr lang="en-IN" sz="1800" b="0" i="0" kern="1200" dirty="0">
                          <a:solidFill>
                            <a:schemeClr val="dk1"/>
                          </a:solidFill>
                          <a:effectLst/>
                          <a:latin typeface="+mn-lt"/>
                          <a:ea typeface="+mn-ea"/>
                          <a:cs typeface="+mn-cs"/>
                        </a:rPr>
                        <a:t>satisfaction, loyalty, </a:t>
                      </a:r>
                      <a:endParaRPr lang="en-IN" sz="2000" kern="1200" dirty="0">
                        <a:solidFill>
                          <a:schemeClr val="tx1"/>
                        </a:solidFill>
                        <a:latin typeface="+mn-lt"/>
                        <a:ea typeface="+mn-ea"/>
                        <a:cs typeface="+mn-cs"/>
                      </a:endParaRPr>
                    </a:p>
                  </a:txBody>
                  <a:tcPr/>
                </a:tc>
                <a:extLst>
                  <a:ext uri="{0D108BD9-81ED-4DB2-BD59-A6C34878D82A}">
                    <a16:rowId xmlns:a16="http://schemas.microsoft.com/office/drawing/2014/main" val="1399245153"/>
                  </a:ext>
                </a:extLst>
              </a:tr>
            </a:tbl>
          </a:graphicData>
        </a:graphic>
      </p:graphicFrame>
      <p:sp>
        <p:nvSpPr>
          <p:cNvPr id="5" name="TextBox 4"/>
          <p:cNvSpPr txBox="1"/>
          <p:nvPr/>
        </p:nvSpPr>
        <p:spPr>
          <a:xfrm>
            <a:off x="635000" y="6350000"/>
            <a:ext cx="5080000" cy="635000"/>
          </a:xfrm>
          <a:prstGeom prst="rect">
            <a:avLst/>
          </a:prstGeom>
          <a:noFill/>
        </p:spPr>
        <p:txBody>
          <a:bodyPr wrap="none">
            <a:spAutoFit/>
          </a:bodyPr>
          <a:lstStyle/>
          <a:p/>
          <a:p>
            <a:pPr algn="ctr">
              <a:defRPr sz="1400">
                <a:solidFill>
                  <a:srgbClr val="C8C8C8"/>
                </a:solidFill>
              </a:defRPr>
            </a:pPr>
            <a:r>
              <a:t>Confidential – GPay Junior</a:t>
            </a:r>
          </a:p>
        </p:txBody>
      </p:sp>
      <p:sp>
        <p:nvSpPr>
          <p:cNvPr id="6" name="TextBox 5"/>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extLst>
      <p:ext uri="{BB962C8B-B14F-4D97-AF65-F5344CB8AC3E}">
        <p14:creationId xmlns:p14="http://schemas.microsoft.com/office/powerpoint/2010/main" val="1327604092"/>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Prepared by Devi Murugesan – Nov 2025</a:t>
            </a:r>
          </a:p>
        </p:txBody>
      </p:sp>
      <p:sp>
        <p:nvSpPr>
          <p:cNvPr id="3" name="Content Placeholder 2"/>
          <p:cNvSpPr>
            <a:spLocks noGrp="1"/>
          </p:cNvSpPr>
          <p:nvPr>
            <p:ph idx="1"/>
          </p:nvPr>
        </p:nvSpPr>
        <p:spPr/>
        <p:txBody>
          <a:bodyPr/>
          <a:lstStyle/>
          <a:p/>
        </p:txBody>
      </p:sp>
      <p:sp>
        <p:nvSpPr>
          <p:cNvPr id="4" name="TextBox 3"/>
          <p:cNvSpPr txBox="1"/>
          <p:nvPr/>
        </p:nvSpPr>
        <p:spPr>
          <a:xfrm>
            <a:off x="635000" y="6350000"/>
            <a:ext cx="6350000" cy="635000"/>
          </a:xfrm>
          <a:prstGeom prst="rect">
            <a:avLst/>
          </a:prstGeom>
          <a:noFill/>
        </p:spPr>
        <p:txBody>
          <a:bodyPr wrap="none">
            <a:spAutoFit/>
          </a:bodyPr>
          <a:lstStyle/>
          <a:p/>
          <a:p>
            <a:pPr algn="ctr">
              <a:defRPr sz="1400">
                <a:solidFill>
                  <a:srgbClr val="C8C8C8"/>
                </a:solidFill>
              </a:defRPr>
            </a:pPr>
            <a:r>
              <a:t>Confidential – GPay Junior - Devi Murugesan</a:t>
            </a:r>
          </a:p>
        </p:txBody>
      </p:sp>
    </p:spTree>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127</TotalTime>
  <Words>1916</Words>
  <Application>Microsoft Office PowerPoint</Application>
  <PresentationFormat>Widescreen</PresentationFormat>
  <Paragraphs>209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Century Gothic</vt:lpstr>
      <vt:lpstr>Neue Haas Grotesk Text Pro</vt:lpstr>
      <vt:lpstr>Open Sans</vt:lpstr>
      <vt:lpstr>Wingdings</vt:lpstr>
      <vt:lpstr>VanillaVTI</vt:lpstr>
      <vt:lpstr>Gpay - Junior</vt:lpstr>
      <vt:lpstr>GPay</vt:lpstr>
      <vt:lpstr>Gpay - Junior </vt:lpstr>
      <vt:lpstr>Target Users</vt:lpstr>
      <vt:lpstr>The Problem</vt:lpstr>
      <vt:lpstr>MVP Epic 1 - RBI Guidelines &amp; Compliance</vt:lpstr>
      <vt:lpstr>MVP Epic 1 - RBI Guidelines &amp; Compliance</vt:lpstr>
      <vt:lpstr>MVP Epic 2 – Basic Features – (Must haves)</vt:lpstr>
      <vt:lpstr>MVP Epic 2 – Basic Features – (Must haves) Contd</vt:lpstr>
      <vt:lpstr>MVP Epic 3 – Nice to haves</vt:lpstr>
      <vt:lpstr>Pain points the MVP addressing  for the user’s</vt:lpstr>
      <vt:lpstr>Risks</vt:lpstr>
      <vt:lpstr>Primary - System Attributes</vt:lpstr>
      <vt:lpstr>Secondary - System Attributes</vt:lpstr>
      <vt:lpstr>System Architecture</vt:lpstr>
      <vt:lpstr>LLM Configuration</vt:lpstr>
      <vt:lpstr>LLM Configuration</vt:lpstr>
      <vt:lpstr>Metrics </vt:lpstr>
      <vt:lpstr>Metrics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 Murugesan (NQT2 C)</dc:creator>
  <cp:lastModifiedBy>Devi Murugesan (NQT2 C)</cp:lastModifiedBy>
  <cp:revision>1</cp:revision>
  <dcterms:created xsi:type="dcterms:W3CDTF">2025-11-20T04:46:49Z</dcterms:created>
  <dcterms:modified xsi:type="dcterms:W3CDTF">2025-11-20T06:55:33Z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818d02-8d25-4bb9-b27c-e4db64670887_Enabled">
    <vt:lpwstr>true</vt:lpwstr>
  </property>
  <property fmtid="{D5CDD505-2E9C-101B-9397-08002B2CF9AE}" pid="3" name="MSIP_Label_55818d02-8d25-4bb9-b27c-e4db64670887_SetDate">
    <vt:lpwstr>2025-11-20T04:47:39Z</vt:lpwstr>
  </property>
  <property fmtid="{D5CDD505-2E9C-101B-9397-08002B2CF9AE}" pid="4" name="MSIP_Label_55818d02-8d25-4bb9-b27c-e4db64670887_Method">
    <vt:lpwstr>Standard</vt:lpwstr>
  </property>
  <property fmtid="{D5CDD505-2E9C-101B-9397-08002B2CF9AE}" pid="5" name="MSIP_Label_55818d02-8d25-4bb9-b27c-e4db64670887_Name">
    <vt:lpwstr>55818d02-8d25-4bb9-b27c-e4db64670887</vt:lpwstr>
  </property>
  <property fmtid="{D5CDD505-2E9C-101B-9397-08002B2CF9AE}" pid="6" name="MSIP_Label_55818d02-8d25-4bb9-b27c-e4db64670887_SiteId">
    <vt:lpwstr>a7f35688-9c00-4d5e-ba41-29f146377ab0</vt:lpwstr>
  </property>
  <property fmtid="{D5CDD505-2E9C-101B-9397-08002B2CF9AE}" pid="7" name="MSIP_Label_55818d02-8d25-4bb9-b27c-e4db64670887_ActionId">
    <vt:lpwstr>a38c6276-ec8f-496a-97f5-8d2731673538</vt:lpwstr>
  </property>
  <property fmtid="{D5CDD505-2E9C-101B-9397-08002B2CF9AE}" pid="8" name="MSIP_Label_55818d02-8d25-4bb9-b27c-e4db64670887_ContentBits">
    <vt:lpwstr>3</vt:lpwstr>
  </property>
  <property fmtid="{D5CDD505-2E9C-101B-9397-08002B2CF9AE}" pid="9" name="MSIP_Label_55818d02-8d25-4bb9-b27c-e4db64670887_Tag">
    <vt:lpwstr>10, 3, 0, 1</vt:lpwstr>
  </property>
  <property fmtid="{D5CDD505-2E9C-101B-9397-08002B2CF9AE}" pid="10" name="ClassificationContentMarkingFooterLocations">
    <vt:lpwstr>VanillaVTI:10</vt:lpwstr>
  </property>
  <property fmtid="{D5CDD505-2E9C-101B-9397-08002B2CF9AE}" pid="11" name="ClassificationContentMarkingFooterText">
    <vt:lpwstr>General</vt:lpwstr>
  </property>
  <property fmtid="{D5CDD505-2E9C-101B-9397-08002B2CF9AE}" pid="12" name="ClassificationContentMarkingHeaderLocations">
    <vt:lpwstr>VanillaVTI:9</vt:lpwstr>
  </property>
  <property fmtid="{D5CDD505-2E9C-101B-9397-08002B2CF9AE}" pid="13" name="ClassificationContentMarkingHeaderText">
    <vt:lpwstr>General</vt:lpwstr>
  </property>
</Properties>
</file>